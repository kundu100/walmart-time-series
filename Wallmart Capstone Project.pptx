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14" r:id="rId5"/>
    <p:sldMasterId id="2147483727" r:id="rId6"/>
  </p:sldMasterIdLst>
  <p:notesMasterIdLst>
    <p:notesMasterId r:id="rId34"/>
  </p:notesMasterIdLst>
  <p:sldIdLst>
    <p:sldId id="256" r:id="rId7"/>
    <p:sldId id="257" r:id="rId8"/>
    <p:sldId id="258" r:id="rId9"/>
    <p:sldId id="259" r:id="rId10"/>
    <p:sldId id="279" r:id="rId11"/>
    <p:sldId id="260" r:id="rId12"/>
    <p:sldId id="261" r:id="rId13"/>
    <p:sldId id="280" r:id="rId14"/>
    <p:sldId id="262" r:id="rId15"/>
    <p:sldId id="263" r:id="rId16"/>
    <p:sldId id="281" r:id="rId17"/>
    <p:sldId id="264" r:id="rId18"/>
    <p:sldId id="265" r:id="rId19"/>
    <p:sldId id="266" r:id="rId20"/>
    <p:sldId id="267" r:id="rId21"/>
    <p:sldId id="268" r:id="rId22"/>
    <p:sldId id="282" r:id="rId23"/>
    <p:sldId id="269" r:id="rId24"/>
    <p:sldId id="278" r:id="rId25"/>
    <p:sldId id="270" r:id="rId26"/>
    <p:sldId id="271" r:id="rId27"/>
    <p:sldId id="272" r:id="rId28"/>
    <p:sldId id="273" r:id="rId29"/>
    <p:sldId id="274" r:id="rId30"/>
    <p:sldId id="276" r:id="rId31"/>
    <p:sldId id="277" r:id="rId32"/>
    <p:sldId id="28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28E099-605F-4A4E-AC36-C93D355A66ED}" v="140" dt="2021-12-10T10:13:40.4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99" autoAdjust="0"/>
    <p:restoredTop sz="94980" autoAdjust="0"/>
  </p:normalViewPr>
  <p:slideViewPr>
    <p:cSldViewPr snapToGrid="0">
      <p:cViewPr>
        <p:scale>
          <a:sx n="60" d="100"/>
          <a:sy n="60" d="100"/>
        </p:scale>
        <p:origin x="-1392" y="-3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3F0628-58E6-488F-A896-6044F639ABF0}" type="doc">
      <dgm:prSet loTypeId="urn:microsoft.com/office/officeart/2005/8/layout/h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05A9F65-AE81-4428-B4B6-1294C9A21C66}">
      <dgm:prSet phldrT="[Text]"/>
      <dgm:spPr/>
      <dgm:t>
        <a:bodyPr/>
        <a:lstStyle/>
        <a:p>
          <a:r>
            <a:rPr lang="en-US" dirty="0" smtClean="0"/>
            <a:t>Insights</a:t>
          </a:r>
          <a:endParaRPr lang="en-US" dirty="0"/>
        </a:p>
      </dgm:t>
    </dgm:pt>
    <dgm:pt modelId="{FA4F6DEB-BE36-4550-AEFA-9364C3C806CB}" type="parTrans" cxnId="{4A67BB4A-ABE8-4C81-841A-3BA17B9F18AC}">
      <dgm:prSet/>
      <dgm:spPr/>
      <dgm:t>
        <a:bodyPr/>
        <a:lstStyle/>
        <a:p>
          <a:endParaRPr lang="en-US"/>
        </a:p>
      </dgm:t>
    </dgm:pt>
    <dgm:pt modelId="{0A9D82D0-93A5-4F0C-98C2-25C18800349F}" type="sibTrans" cxnId="{4A67BB4A-ABE8-4C81-841A-3BA17B9F18AC}">
      <dgm:prSet/>
      <dgm:spPr/>
      <dgm:t>
        <a:bodyPr/>
        <a:lstStyle/>
        <a:p>
          <a:endParaRPr lang="en-US"/>
        </a:p>
      </dgm:t>
    </dgm:pt>
    <dgm:pt modelId="{90FD77B4-45B7-4EB0-8781-82D70BA7A1D4}">
      <dgm:prSet phldrT="[Text]"/>
      <dgm:spPr/>
      <dgm:t>
        <a:bodyPr/>
        <a:lstStyle/>
        <a:p>
          <a:r>
            <a:rPr lang="en-US" dirty="0" smtClean="0"/>
            <a:t>Identify store with Max and Min sales</a:t>
          </a:r>
          <a:endParaRPr lang="en-US" dirty="0"/>
        </a:p>
      </dgm:t>
    </dgm:pt>
    <dgm:pt modelId="{D3318CCD-AA93-45E4-8F1E-758DCA1F5E79}" type="parTrans" cxnId="{4F414305-5364-4429-B7C5-A87F749BAE41}">
      <dgm:prSet/>
      <dgm:spPr/>
      <dgm:t>
        <a:bodyPr/>
        <a:lstStyle/>
        <a:p>
          <a:endParaRPr lang="en-US"/>
        </a:p>
      </dgm:t>
    </dgm:pt>
    <dgm:pt modelId="{5F54A8D8-4641-432F-A9F7-98ED2A56E9EA}" type="sibTrans" cxnId="{4F414305-5364-4429-B7C5-A87F749BAE41}">
      <dgm:prSet/>
      <dgm:spPr/>
      <dgm:t>
        <a:bodyPr/>
        <a:lstStyle/>
        <a:p>
          <a:endParaRPr lang="en-US"/>
        </a:p>
      </dgm:t>
    </dgm:pt>
    <dgm:pt modelId="{A8499B40-7734-42A4-8523-8921061A11A5}">
      <dgm:prSet phldrT="[Text]"/>
      <dgm:spPr/>
      <dgm:t>
        <a:bodyPr/>
        <a:lstStyle/>
        <a:p>
          <a:r>
            <a:rPr lang="en-US" dirty="0" smtClean="0"/>
            <a:t>Features</a:t>
          </a:r>
          <a:endParaRPr lang="en-US" dirty="0"/>
        </a:p>
      </dgm:t>
    </dgm:pt>
    <dgm:pt modelId="{E185BAC9-F291-40B4-A263-1D424A921258}" type="parTrans" cxnId="{DE12A013-F019-42BD-BFE1-9D8A44EA6689}">
      <dgm:prSet/>
      <dgm:spPr/>
      <dgm:t>
        <a:bodyPr/>
        <a:lstStyle/>
        <a:p>
          <a:endParaRPr lang="en-US"/>
        </a:p>
      </dgm:t>
    </dgm:pt>
    <dgm:pt modelId="{0D8B2D8C-28D4-49A7-B16A-3079366A3E74}" type="sibTrans" cxnId="{DE12A013-F019-42BD-BFE1-9D8A44EA6689}">
      <dgm:prSet/>
      <dgm:spPr/>
      <dgm:t>
        <a:bodyPr/>
        <a:lstStyle/>
        <a:p>
          <a:endParaRPr lang="en-US"/>
        </a:p>
      </dgm:t>
    </dgm:pt>
    <dgm:pt modelId="{88E53CE7-05F6-499B-9180-5A5FB5431801}">
      <dgm:prSet phldrT="[Text]"/>
      <dgm:spPr/>
      <dgm:t>
        <a:bodyPr/>
        <a:lstStyle/>
        <a:p>
          <a:r>
            <a:rPr lang="en-US" dirty="0" smtClean="0"/>
            <a:t>Heat map of all features with one another</a:t>
          </a:r>
          <a:endParaRPr lang="en-US" dirty="0"/>
        </a:p>
      </dgm:t>
    </dgm:pt>
    <dgm:pt modelId="{666B0B6F-50E7-4ED3-B9FA-6E56964114CB}" type="parTrans" cxnId="{BE4FDA55-1B42-41A3-9ECA-6B5BBD3BD9D0}">
      <dgm:prSet/>
      <dgm:spPr/>
      <dgm:t>
        <a:bodyPr/>
        <a:lstStyle/>
        <a:p>
          <a:endParaRPr lang="en-US"/>
        </a:p>
      </dgm:t>
    </dgm:pt>
    <dgm:pt modelId="{4B337861-1021-43CC-A997-C3F448F45B1D}" type="sibTrans" cxnId="{BE4FDA55-1B42-41A3-9ECA-6B5BBD3BD9D0}">
      <dgm:prSet/>
      <dgm:spPr/>
      <dgm:t>
        <a:bodyPr/>
        <a:lstStyle/>
        <a:p>
          <a:endParaRPr lang="en-US"/>
        </a:p>
      </dgm:t>
    </dgm:pt>
    <dgm:pt modelId="{14BBFEE5-F052-4727-8135-87D846A8A178}">
      <dgm:prSet phldrT="[Text]"/>
      <dgm:spPr/>
      <dgm:t>
        <a:bodyPr/>
        <a:lstStyle/>
        <a:p>
          <a:r>
            <a:rPr lang="en-US" dirty="0" smtClean="0"/>
            <a:t>Identify and remove features having outliers</a:t>
          </a:r>
          <a:endParaRPr lang="en-US" dirty="0"/>
        </a:p>
      </dgm:t>
    </dgm:pt>
    <dgm:pt modelId="{15E4C6D6-4883-4CFA-89A5-8C377EFA94AE}" type="parTrans" cxnId="{B82592BA-AE26-4161-A5A9-1839708B2B6A}">
      <dgm:prSet/>
      <dgm:spPr/>
      <dgm:t>
        <a:bodyPr/>
        <a:lstStyle/>
        <a:p>
          <a:endParaRPr lang="en-US"/>
        </a:p>
      </dgm:t>
    </dgm:pt>
    <dgm:pt modelId="{C947591F-A949-4F86-B425-1BC7C366CC75}" type="sibTrans" cxnId="{B82592BA-AE26-4161-A5A9-1839708B2B6A}">
      <dgm:prSet/>
      <dgm:spPr/>
      <dgm:t>
        <a:bodyPr/>
        <a:lstStyle/>
        <a:p>
          <a:endParaRPr lang="en-US"/>
        </a:p>
      </dgm:t>
    </dgm:pt>
    <dgm:pt modelId="{53B90668-02F7-4398-B676-DDCC2E5F306A}">
      <dgm:prSet phldrT="[Text]"/>
      <dgm:spPr/>
      <dgm:t>
        <a:bodyPr/>
        <a:lstStyle/>
        <a:p>
          <a:r>
            <a:rPr lang="en-US" dirty="0" smtClean="0"/>
            <a:t>Predictive models</a:t>
          </a:r>
          <a:endParaRPr lang="en-US" dirty="0"/>
        </a:p>
      </dgm:t>
    </dgm:pt>
    <dgm:pt modelId="{5046A58B-8E3F-4561-AD36-5D3543029927}" type="parTrans" cxnId="{05BBC2BA-6135-436E-B5F9-8524CFAA99B2}">
      <dgm:prSet/>
      <dgm:spPr/>
      <dgm:t>
        <a:bodyPr/>
        <a:lstStyle/>
        <a:p>
          <a:endParaRPr lang="en-US"/>
        </a:p>
      </dgm:t>
    </dgm:pt>
    <dgm:pt modelId="{A93CF336-EEBB-46CE-BE67-EF923AE0254D}" type="sibTrans" cxnId="{05BBC2BA-6135-436E-B5F9-8524CFAA99B2}">
      <dgm:prSet/>
      <dgm:spPr/>
      <dgm:t>
        <a:bodyPr/>
        <a:lstStyle/>
        <a:p>
          <a:endParaRPr lang="en-US"/>
        </a:p>
      </dgm:t>
    </dgm:pt>
    <dgm:pt modelId="{D1D2F68E-D341-4F6F-B0A1-B57A93344300}">
      <dgm:prSet phldrT="[Text]"/>
      <dgm:spPr/>
      <dgm:t>
        <a:bodyPr/>
        <a:lstStyle/>
        <a:p>
          <a:r>
            <a:rPr lang="en-US" dirty="0" smtClean="0"/>
            <a:t>Analyze what Machine Learning will fit the requirement</a:t>
          </a:r>
          <a:endParaRPr lang="en-US" dirty="0"/>
        </a:p>
      </dgm:t>
    </dgm:pt>
    <dgm:pt modelId="{4847D6C5-9FF0-4A8F-B575-5C738B7EC296}" type="parTrans" cxnId="{83D2F2A1-506C-4BC7-AE03-E25C935B1946}">
      <dgm:prSet/>
      <dgm:spPr/>
      <dgm:t>
        <a:bodyPr/>
        <a:lstStyle/>
        <a:p>
          <a:endParaRPr lang="en-US"/>
        </a:p>
      </dgm:t>
    </dgm:pt>
    <dgm:pt modelId="{DBDF53DD-2433-4183-A0EC-960B2EDAF319}" type="sibTrans" cxnId="{83D2F2A1-506C-4BC7-AE03-E25C935B1946}">
      <dgm:prSet/>
      <dgm:spPr/>
      <dgm:t>
        <a:bodyPr/>
        <a:lstStyle/>
        <a:p>
          <a:endParaRPr lang="en-US"/>
        </a:p>
      </dgm:t>
    </dgm:pt>
    <dgm:pt modelId="{F10A2B40-9AF0-4E5A-AF35-3C2BD8A84AEE}">
      <dgm:prSet phldrT="[Text]"/>
      <dgm:spPr/>
      <dgm:t>
        <a:bodyPr/>
        <a:lstStyle/>
        <a:p>
          <a:r>
            <a:rPr lang="en-US" dirty="0" smtClean="0"/>
            <a:t>Analyze Time Series- ARIMA and SARIMAX</a:t>
          </a:r>
          <a:endParaRPr lang="en-US" dirty="0"/>
        </a:p>
      </dgm:t>
    </dgm:pt>
    <dgm:pt modelId="{EF850D02-88C0-4F08-812E-03CDE4805FBF}" type="parTrans" cxnId="{01658A0F-4B3E-48D5-B286-1144CAB4B5A1}">
      <dgm:prSet/>
      <dgm:spPr/>
      <dgm:t>
        <a:bodyPr/>
        <a:lstStyle/>
        <a:p>
          <a:endParaRPr lang="en-US"/>
        </a:p>
      </dgm:t>
    </dgm:pt>
    <dgm:pt modelId="{566B68C8-5D85-4D00-B472-8592314A74C0}" type="sibTrans" cxnId="{01658A0F-4B3E-48D5-B286-1144CAB4B5A1}">
      <dgm:prSet/>
      <dgm:spPr/>
      <dgm:t>
        <a:bodyPr/>
        <a:lstStyle/>
        <a:p>
          <a:endParaRPr lang="en-US"/>
        </a:p>
      </dgm:t>
    </dgm:pt>
    <dgm:pt modelId="{0B1F7F02-5D6B-4F61-9A95-5C96D941B821}">
      <dgm:prSet phldrT="[Text]"/>
      <dgm:spPr/>
      <dgm:t>
        <a:bodyPr/>
        <a:lstStyle/>
        <a:p>
          <a:r>
            <a:rPr lang="en-US" dirty="0" smtClean="0"/>
            <a:t>Pre- processing</a:t>
          </a:r>
          <a:endParaRPr lang="en-US" dirty="0"/>
        </a:p>
      </dgm:t>
    </dgm:pt>
    <dgm:pt modelId="{0F7EBEB0-6E4A-48E5-9C2E-80644E3EAB06}" type="parTrans" cxnId="{E0F1918E-C9FD-43A9-834B-9DE899115ADE}">
      <dgm:prSet/>
      <dgm:spPr/>
      <dgm:t>
        <a:bodyPr/>
        <a:lstStyle/>
        <a:p>
          <a:endParaRPr lang="en-US"/>
        </a:p>
      </dgm:t>
    </dgm:pt>
    <dgm:pt modelId="{EF77D2FB-5821-4982-8E0A-C6902B59A54E}" type="sibTrans" cxnId="{E0F1918E-C9FD-43A9-834B-9DE899115ADE}">
      <dgm:prSet/>
      <dgm:spPr/>
      <dgm:t>
        <a:bodyPr/>
        <a:lstStyle/>
        <a:p>
          <a:endParaRPr lang="en-US"/>
        </a:p>
      </dgm:t>
    </dgm:pt>
    <dgm:pt modelId="{0859521A-3F98-4658-A2B1-7FAB45722765}">
      <dgm:prSet phldrT="[Text]"/>
      <dgm:spPr/>
      <dgm:t>
        <a:bodyPr/>
        <a:lstStyle/>
        <a:p>
          <a:r>
            <a:rPr lang="en-US" dirty="0" smtClean="0"/>
            <a:t>Data type of columns</a:t>
          </a:r>
          <a:endParaRPr lang="en-US" dirty="0"/>
        </a:p>
      </dgm:t>
    </dgm:pt>
    <dgm:pt modelId="{1A67924A-AED3-4245-B5EE-E3938131A545}" type="parTrans" cxnId="{F29023C9-4235-4E01-83E0-7B7A6A109161}">
      <dgm:prSet/>
      <dgm:spPr/>
      <dgm:t>
        <a:bodyPr/>
        <a:lstStyle/>
        <a:p>
          <a:endParaRPr lang="en-US"/>
        </a:p>
      </dgm:t>
    </dgm:pt>
    <dgm:pt modelId="{C07E81AE-028C-445B-A474-311B3F71C42B}" type="sibTrans" cxnId="{F29023C9-4235-4E01-83E0-7B7A6A109161}">
      <dgm:prSet/>
      <dgm:spPr/>
      <dgm:t>
        <a:bodyPr/>
        <a:lstStyle/>
        <a:p>
          <a:endParaRPr lang="en-US"/>
        </a:p>
      </dgm:t>
    </dgm:pt>
    <dgm:pt modelId="{40666123-273E-4C90-92BE-EB7982EE45EA}">
      <dgm:prSet phldrT="[Text]"/>
      <dgm:spPr/>
      <dgm:t>
        <a:bodyPr/>
        <a:lstStyle/>
        <a:p>
          <a:r>
            <a:rPr lang="en-US" dirty="0" smtClean="0"/>
            <a:t>Shape of data</a:t>
          </a:r>
          <a:endParaRPr lang="en-US" dirty="0"/>
        </a:p>
      </dgm:t>
    </dgm:pt>
    <dgm:pt modelId="{AA30BB4F-B460-4523-97A4-93E1D8365FD0}" type="parTrans" cxnId="{51FBC2F4-26E0-4C22-9A96-BFDCC7203DFE}">
      <dgm:prSet/>
      <dgm:spPr/>
      <dgm:t>
        <a:bodyPr/>
        <a:lstStyle/>
        <a:p>
          <a:endParaRPr lang="en-US"/>
        </a:p>
      </dgm:t>
    </dgm:pt>
    <dgm:pt modelId="{69424CAC-4CFB-4CAD-BB86-7DF3D4C1D1EF}" type="sibTrans" cxnId="{51FBC2F4-26E0-4C22-9A96-BFDCC7203DFE}">
      <dgm:prSet/>
      <dgm:spPr/>
      <dgm:t>
        <a:bodyPr/>
        <a:lstStyle/>
        <a:p>
          <a:endParaRPr lang="en-US"/>
        </a:p>
      </dgm:t>
    </dgm:pt>
    <dgm:pt modelId="{9E1DF76A-7FFA-4BA0-B7FF-ED75A3A7C4E4}">
      <dgm:prSet phldrT="[Text]"/>
      <dgm:spPr/>
      <dgm:t>
        <a:bodyPr/>
        <a:lstStyle/>
        <a:p>
          <a:r>
            <a:rPr lang="en-US" dirty="0" smtClean="0"/>
            <a:t>Handle Null values</a:t>
          </a:r>
          <a:endParaRPr lang="en-US" dirty="0"/>
        </a:p>
      </dgm:t>
    </dgm:pt>
    <dgm:pt modelId="{F0330204-F0A5-4A4E-8A45-A62ED6AFFDDC}" type="parTrans" cxnId="{8AAABD4F-BBE4-44BA-8E17-D2C70077D7E1}">
      <dgm:prSet/>
      <dgm:spPr/>
      <dgm:t>
        <a:bodyPr/>
        <a:lstStyle/>
        <a:p>
          <a:endParaRPr lang="en-US"/>
        </a:p>
      </dgm:t>
    </dgm:pt>
    <dgm:pt modelId="{03916150-0119-4466-B961-8B006BC97145}" type="sibTrans" cxnId="{8AAABD4F-BBE4-44BA-8E17-D2C70077D7E1}">
      <dgm:prSet/>
      <dgm:spPr/>
      <dgm:t>
        <a:bodyPr/>
        <a:lstStyle/>
        <a:p>
          <a:endParaRPr lang="en-US"/>
        </a:p>
      </dgm:t>
    </dgm:pt>
    <dgm:pt modelId="{C2D37F81-E299-49BA-8201-8E7FC2E814CC}">
      <dgm:prSet phldrT="[Text]"/>
      <dgm:spPr/>
      <dgm:t>
        <a:bodyPr/>
        <a:lstStyle/>
        <a:p>
          <a:r>
            <a:rPr lang="en-US" dirty="0" smtClean="0"/>
            <a:t>Handle Duplicates values</a:t>
          </a:r>
          <a:endParaRPr lang="en-US" dirty="0"/>
        </a:p>
      </dgm:t>
    </dgm:pt>
    <dgm:pt modelId="{968DF13A-E6F6-4AC6-84BB-C859C18F829E}" type="parTrans" cxnId="{2375D0D6-61B3-4F3F-948B-6E5FEC50C2AD}">
      <dgm:prSet/>
      <dgm:spPr/>
      <dgm:t>
        <a:bodyPr/>
        <a:lstStyle/>
        <a:p>
          <a:endParaRPr lang="en-US"/>
        </a:p>
      </dgm:t>
    </dgm:pt>
    <dgm:pt modelId="{2BCDB927-1043-478B-84D4-B2FEF1244454}" type="sibTrans" cxnId="{2375D0D6-61B3-4F3F-948B-6E5FEC50C2AD}">
      <dgm:prSet/>
      <dgm:spPr/>
      <dgm:t>
        <a:bodyPr/>
        <a:lstStyle/>
        <a:p>
          <a:endParaRPr lang="en-US"/>
        </a:p>
      </dgm:t>
    </dgm:pt>
    <dgm:pt modelId="{A8844B65-E977-464B-9C14-3E522716426F}">
      <dgm:prSet phldrT="[Text]"/>
      <dgm:spPr/>
      <dgm:t>
        <a:bodyPr/>
        <a:lstStyle/>
        <a:p>
          <a:r>
            <a:rPr lang="en-US" dirty="0" smtClean="0"/>
            <a:t>Analyze Unique values for each column</a:t>
          </a:r>
          <a:endParaRPr lang="en-US" dirty="0"/>
        </a:p>
      </dgm:t>
    </dgm:pt>
    <dgm:pt modelId="{FB35048C-E46C-4DE3-8162-C439CFAC63BA}" type="parTrans" cxnId="{EE24BEC6-BE56-4171-8DF4-131889B995C7}">
      <dgm:prSet/>
      <dgm:spPr/>
      <dgm:t>
        <a:bodyPr/>
        <a:lstStyle/>
        <a:p>
          <a:endParaRPr lang="en-US"/>
        </a:p>
      </dgm:t>
    </dgm:pt>
    <dgm:pt modelId="{972483EB-5FCA-466E-984E-E9FDC7A458C3}" type="sibTrans" cxnId="{EE24BEC6-BE56-4171-8DF4-131889B995C7}">
      <dgm:prSet/>
      <dgm:spPr/>
      <dgm:t>
        <a:bodyPr/>
        <a:lstStyle/>
        <a:p>
          <a:endParaRPr lang="en-US"/>
        </a:p>
      </dgm:t>
    </dgm:pt>
    <dgm:pt modelId="{15267B73-53B7-414A-A0B7-19236D51CA7D}">
      <dgm:prSet phldrT="[Text]"/>
      <dgm:spPr/>
      <dgm:t>
        <a:bodyPr/>
        <a:lstStyle/>
        <a:p>
          <a:endParaRPr lang="en-US" dirty="0"/>
        </a:p>
      </dgm:t>
    </dgm:pt>
    <dgm:pt modelId="{08E0AC5D-142F-483F-AA1A-6F40C84FB122}" type="parTrans" cxnId="{3F17941F-4690-4B7A-9201-3D246B1C42D0}">
      <dgm:prSet/>
      <dgm:spPr/>
      <dgm:t>
        <a:bodyPr/>
        <a:lstStyle/>
        <a:p>
          <a:endParaRPr lang="en-US"/>
        </a:p>
      </dgm:t>
    </dgm:pt>
    <dgm:pt modelId="{A9230C59-0BD1-462C-8629-ACD12F688940}" type="sibTrans" cxnId="{3F17941F-4690-4B7A-9201-3D246B1C42D0}">
      <dgm:prSet/>
      <dgm:spPr/>
      <dgm:t>
        <a:bodyPr/>
        <a:lstStyle/>
        <a:p>
          <a:endParaRPr lang="en-US"/>
        </a:p>
      </dgm:t>
    </dgm:pt>
    <dgm:pt modelId="{0A81074E-25C9-4F6D-B546-C6A0EA0930F2}">
      <dgm:prSet phldrT="[Text]"/>
      <dgm:spPr/>
      <dgm:t>
        <a:bodyPr/>
        <a:lstStyle/>
        <a:p>
          <a:r>
            <a:rPr lang="en-US" dirty="0" smtClean="0"/>
            <a:t>Identify Top 5 and Bottom 5 stores by Sales</a:t>
          </a:r>
          <a:endParaRPr lang="en-US" dirty="0"/>
        </a:p>
      </dgm:t>
    </dgm:pt>
    <dgm:pt modelId="{D2BFCF96-8D48-42F1-BD79-24F97D591EB8}" type="parTrans" cxnId="{DC94F08D-D11D-4B61-B473-2D157EBD5A7B}">
      <dgm:prSet/>
      <dgm:spPr/>
      <dgm:t>
        <a:bodyPr/>
        <a:lstStyle/>
        <a:p>
          <a:endParaRPr lang="en-US"/>
        </a:p>
      </dgm:t>
    </dgm:pt>
    <dgm:pt modelId="{28BAF6D6-FD89-4FF9-B891-BB826F0C46F8}" type="sibTrans" cxnId="{DC94F08D-D11D-4B61-B473-2D157EBD5A7B}">
      <dgm:prSet/>
      <dgm:spPr/>
      <dgm:t>
        <a:bodyPr/>
        <a:lstStyle/>
        <a:p>
          <a:endParaRPr lang="en-US"/>
        </a:p>
      </dgm:t>
    </dgm:pt>
    <dgm:pt modelId="{35265A3B-3B34-4A25-A112-C211DD5694B2}">
      <dgm:prSet phldrT="[Text]"/>
      <dgm:spPr/>
      <dgm:t>
        <a:bodyPr/>
        <a:lstStyle/>
        <a:p>
          <a:r>
            <a:rPr lang="en-US" dirty="0" smtClean="0"/>
            <a:t>Diff between Max and Min Sales</a:t>
          </a:r>
          <a:endParaRPr lang="en-US" dirty="0"/>
        </a:p>
      </dgm:t>
    </dgm:pt>
    <dgm:pt modelId="{1154EBD3-1D46-4E13-BA89-2E7DA0F16B3E}" type="parTrans" cxnId="{E658239B-0422-4E57-BA27-B34CAC969FB7}">
      <dgm:prSet/>
      <dgm:spPr/>
      <dgm:t>
        <a:bodyPr/>
        <a:lstStyle/>
        <a:p>
          <a:endParaRPr lang="en-US"/>
        </a:p>
      </dgm:t>
    </dgm:pt>
    <dgm:pt modelId="{1C1DB30B-4FEA-452E-85A3-DEB4D636D4EE}" type="sibTrans" cxnId="{E658239B-0422-4E57-BA27-B34CAC969FB7}">
      <dgm:prSet/>
      <dgm:spPr/>
      <dgm:t>
        <a:bodyPr/>
        <a:lstStyle/>
        <a:p>
          <a:endParaRPr lang="en-US"/>
        </a:p>
      </dgm:t>
    </dgm:pt>
    <dgm:pt modelId="{F9B7AC23-20DD-4D38-83AB-7168BB4049A3}">
      <dgm:prSet phldrT="[Text]"/>
      <dgm:spPr/>
      <dgm:t>
        <a:bodyPr/>
        <a:lstStyle/>
        <a:p>
          <a:r>
            <a:rPr lang="en-US" dirty="0" smtClean="0"/>
            <a:t>Identify Week of Max sales across all stores</a:t>
          </a:r>
          <a:endParaRPr lang="en-US" dirty="0"/>
        </a:p>
      </dgm:t>
    </dgm:pt>
    <dgm:pt modelId="{3D344A45-1000-4F41-98CF-7065143B6F5B}" type="parTrans" cxnId="{EDDF3271-739C-4621-A733-B33DD821659F}">
      <dgm:prSet/>
      <dgm:spPr/>
      <dgm:t>
        <a:bodyPr/>
        <a:lstStyle/>
        <a:p>
          <a:endParaRPr lang="en-US"/>
        </a:p>
      </dgm:t>
    </dgm:pt>
    <dgm:pt modelId="{FE4BAC89-0C72-490D-A5DA-F5A6C64F074D}" type="sibTrans" cxnId="{EDDF3271-739C-4621-A733-B33DD821659F}">
      <dgm:prSet/>
      <dgm:spPr/>
      <dgm:t>
        <a:bodyPr/>
        <a:lstStyle/>
        <a:p>
          <a:endParaRPr lang="en-US"/>
        </a:p>
      </dgm:t>
    </dgm:pt>
    <dgm:pt modelId="{8B1F2B4D-CB1B-4850-B933-0FDF3F13FEFF}">
      <dgm:prSet phldrT="[Text]"/>
      <dgm:spPr/>
      <dgm:t>
        <a:bodyPr/>
        <a:lstStyle/>
        <a:p>
          <a:endParaRPr lang="en-US" dirty="0"/>
        </a:p>
      </dgm:t>
    </dgm:pt>
    <dgm:pt modelId="{E0796C38-0D86-4EA9-84FC-3CCC922915B0}" type="parTrans" cxnId="{78C82EC9-D982-4BBF-857A-866F7F39915A}">
      <dgm:prSet/>
      <dgm:spPr/>
      <dgm:t>
        <a:bodyPr/>
        <a:lstStyle/>
        <a:p>
          <a:endParaRPr lang="en-US"/>
        </a:p>
      </dgm:t>
    </dgm:pt>
    <dgm:pt modelId="{2D737159-2300-4F61-B039-F8ED2A05BBCD}" type="sibTrans" cxnId="{78C82EC9-D982-4BBF-857A-866F7F39915A}">
      <dgm:prSet/>
      <dgm:spPr/>
      <dgm:t>
        <a:bodyPr/>
        <a:lstStyle/>
        <a:p>
          <a:endParaRPr lang="en-US"/>
        </a:p>
      </dgm:t>
    </dgm:pt>
    <dgm:pt modelId="{4EC926FB-8A22-4BCB-AE0D-976774C78233}">
      <dgm:prSet phldrT="[Text]"/>
      <dgm:spPr/>
      <dgm:t>
        <a:bodyPr/>
        <a:lstStyle/>
        <a:p>
          <a:r>
            <a:rPr lang="en-US" dirty="0" smtClean="0"/>
            <a:t>Graph- Sales by Store Number</a:t>
          </a:r>
          <a:endParaRPr lang="en-US" dirty="0"/>
        </a:p>
      </dgm:t>
    </dgm:pt>
    <dgm:pt modelId="{8AE38F14-E546-4E4D-A401-BE59A32ECDF3}" type="parTrans" cxnId="{2A7F7D48-81C9-4671-B53A-6254612818E1}">
      <dgm:prSet/>
      <dgm:spPr/>
      <dgm:t>
        <a:bodyPr/>
        <a:lstStyle/>
        <a:p>
          <a:endParaRPr lang="en-US"/>
        </a:p>
      </dgm:t>
    </dgm:pt>
    <dgm:pt modelId="{CCA22036-A371-444F-B7B3-EF8A08F1C4C2}" type="sibTrans" cxnId="{2A7F7D48-81C9-4671-B53A-6254612818E1}">
      <dgm:prSet/>
      <dgm:spPr/>
      <dgm:t>
        <a:bodyPr/>
        <a:lstStyle/>
        <a:p>
          <a:endParaRPr lang="en-US"/>
        </a:p>
      </dgm:t>
    </dgm:pt>
    <dgm:pt modelId="{70EF124B-2C86-4DC4-8887-78265228BDCD}">
      <dgm:prSet phldrT="[Text]"/>
      <dgm:spPr/>
      <dgm:t>
        <a:bodyPr/>
        <a:lstStyle/>
        <a:p>
          <a:r>
            <a:rPr lang="en-US" dirty="0" smtClean="0"/>
            <a:t>Analyze impact of Annual Year, Unemployment and CPI on Sales</a:t>
          </a:r>
          <a:endParaRPr lang="en-US" dirty="0"/>
        </a:p>
      </dgm:t>
    </dgm:pt>
    <dgm:pt modelId="{18062B10-6C13-4914-B6B7-E170FC031479}" type="parTrans" cxnId="{28874381-5D24-4A5F-BBCC-EC9ED9F49AC5}">
      <dgm:prSet/>
      <dgm:spPr/>
      <dgm:t>
        <a:bodyPr/>
        <a:lstStyle/>
        <a:p>
          <a:endParaRPr lang="en-US"/>
        </a:p>
      </dgm:t>
    </dgm:pt>
    <dgm:pt modelId="{84D96EC1-2F1B-4497-9402-7123DF890AEF}" type="sibTrans" cxnId="{28874381-5D24-4A5F-BBCC-EC9ED9F49AC5}">
      <dgm:prSet/>
      <dgm:spPr/>
      <dgm:t>
        <a:bodyPr/>
        <a:lstStyle/>
        <a:p>
          <a:endParaRPr lang="en-US"/>
        </a:p>
      </dgm:t>
    </dgm:pt>
    <dgm:pt modelId="{B034A70F-E225-44B6-97ED-6725D720D18F}">
      <dgm:prSet phldrT="[Text]"/>
      <dgm:spPr/>
      <dgm:t>
        <a:bodyPr/>
        <a:lstStyle/>
        <a:p>
          <a:r>
            <a:rPr lang="en-US" dirty="0" smtClean="0"/>
            <a:t>Correlation of Unemployment &amp; CPI with Sales</a:t>
          </a:r>
          <a:endParaRPr lang="en-US" dirty="0"/>
        </a:p>
      </dgm:t>
    </dgm:pt>
    <dgm:pt modelId="{2C0F3C31-0D9A-442D-8592-937280214B71}" type="parTrans" cxnId="{4ED13B61-55FD-43DF-A22C-E77B4D120600}">
      <dgm:prSet/>
      <dgm:spPr/>
      <dgm:t>
        <a:bodyPr/>
        <a:lstStyle/>
        <a:p>
          <a:endParaRPr lang="en-US"/>
        </a:p>
      </dgm:t>
    </dgm:pt>
    <dgm:pt modelId="{B7ED6061-F303-4B4E-B3AE-F3706D8A21DD}" type="sibTrans" cxnId="{4ED13B61-55FD-43DF-A22C-E77B4D120600}">
      <dgm:prSet/>
      <dgm:spPr/>
      <dgm:t>
        <a:bodyPr/>
        <a:lstStyle/>
        <a:p>
          <a:endParaRPr lang="en-US"/>
        </a:p>
      </dgm:t>
    </dgm:pt>
    <dgm:pt modelId="{CBC901BE-D68E-4D04-B7F8-D28E94463E0C}">
      <dgm:prSet phldrT="[Text]"/>
      <dgm:spPr/>
      <dgm:t>
        <a:bodyPr/>
        <a:lstStyle/>
        <a:p>
          <a:r>
            <a:rPr lang="en-US" dirty="0" smtClean="0"/>
            <a:t>Present sales predictions using time series graph</a:t>
          </a:r>
          <a:endParaRPr lang="en-US" dirty="0"/>
        </a:p>
      </dgm:t>
    </dgm:pt>
    <dgm:pt modelId="{123E2886-9FB3-446C-A18C-483AA10B5033}" type="parTrans" cxnId="{32150CBE-AE10-46C8-BB42-DF502444FADF}">
      <dgm:prSet/>
      <dgm:spPr/>
      <dgm:t>
        <a:bodyPr/>
        <a:lstStyle/>
        <a:p>
          <a:endParaRPr lang="en-US"/>
        </a:p>
      </dgm:t>
    </dgm:pt>
    <dgm:pt modelId="{DA64ACA4-3788-480A-950D-7B8FDF852C59}" type="sibTrans" cxnId="{32150CBE-AE10-46C8-BB42-DF502444FADF}">
      <dgm:prSet/>
      <dgm:spPr/>
      <dgm:t>
        <a:bodyPr/>
        <a:lstStyle/>
        <a:p>
          <a:endParaRPr lang="en-US"/>
        </a:p>
      </dgm:t>
    </dgm:pt>
    <dgm:pt modelId="{D3187BB4-4815-42C9-A28E-72F9793C2B14}" type="pres">
      <dgm:prSet presAssocID="{A83F0628-58E6-488F-A896-6044F639ABF0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B41F1A6-B367-4474-ACE4-33C000E09268}" type="pres">
      <dgm:prSet presAssocID="{0B1F7F02-5D6B-4F61-9A95-5C96D941B821}" presName="composite" presStyleCnt="0"/>
      <dgm:spPr/>
      <dgm:t>
        <a:bodyPr/>
        <a:lstStyle/>
        <a:p>
          <a:endParaRPr lang="en-US"/>
        </a:p>
      </dgm:t>
    </dgm:pt>
    <dgm:pt modelId="{83B919E2-6B20-42B0-8483-A751B9659F9A}" type="pres">
      <dgm:prSet presAssocID="{0B1F7F02-5D6B-4F61-9A95-5C96D941B821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DA69A8-DB78-4567-ACC8-3FAE70375899}" type="pres">
      <dgm:prSet presAssocID="{0B1F7F02-5D6B-4F61-9A95-5C96D941B821}" presName="desTx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E47AE34-80B2-4A76-B39A-3590571F3F65}" type="pres">
      <dgm:prSet presAssocID="{EF77D2FB-5821-4982-8E0A-C6902B59A54E}" presName="space" presStyleCnt="0"/>
      <dgm:spPr/>
      <dgm:t>
        <a:bodyPr/>
        <a:lstStyle/>
        <a:p>
          <a:endParaRPr lang="en-US"/>
        </a:p>
      </dgm:t>
    </dgm:pt>
    <dgm:pt modelId="{C3FD6AC6-142A-43F6-A432-10243EF550C8}" type="pres">
      <dgm:prSet presAssocID="{F05A9F65-AE81-4428-B4B6-1294C9A21C66}" presName="composite" presStyleCnt="0"/>
      <dgm:spPr/>
      <dgm:t>
        <a:bodyPr/>
        <a:lstStyle/>
        <a:p>
          <a:endParaRPr lang="en-US"/>
        </a:p>
      </dgm:t>
    </dgm:pt>
    <dgm:pt modelId="{D3EDA91B-BC84-470B-804C-6A32A59C222F}" type="pres">
      <dgm:prSet presAssocID="{F05A9F65-AE81-4428-B4B6-1294C9A21C66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AFD6A8-490A-4F15-A746-081EF9A5D4D9}" type="pres">
      <dgm:prSet presAssocID="{F05A9F65-AE81-4428-B4B6-1294C9A21C66}" presName="desTx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2F978FE-BE84-4D50-A393-6FE0E4A47BD0}" type="pres">
      <dgm:prSet presAssocID="{0A9D82D0-93A5-4F0C-98C2-25C18800349F}" presName="space" presStyleCnt="0"/>
      <dgm:spPr/>
      <dgm:t>
        <a:bodyPr/>
        <a:lstStyle/>
        <a:p>
          <a:endParaRPr lang="en-US"/>
        </a:p>
      </dgm:t>
    </dgm:pt>
    <dgm:pt modelId="{CFE0EDAF-3851-4027-82E9-6E8068341B76}" type="pres">
      <dgm:prSet presAssocID="{A8499B40-7734-42A4-8523-8921061A11A5}" presName="composite" presStyleCnt="0"/>
      <dgm:spPr/>
      <dgm:t>
        <a:bodyPr/>
        <a:lstStyle/>
        <a:p>
          <a:endParaRPr lang="en-US"/>
        </a:p>
      </dgm:t>
    </dgm:pt>
    <dgm:pt modelId="{D58FF2B2-7D86-4F62-9787-E8CA174191FA}" type="pres">
      <dgm:prSet presAssocID="{A8499B40-7734-42A4-8523-8921061A11A5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D6DE63-1CA2-4DDF-8209-5884C5F7387A}" type="pres">
      <dgm:prSet presAssocID="{A8499B40-7734-42A4-8523-8921061A11A5}" presName="desTx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FE61C2-DBF2-4479-96C8-00B5F6C7D46A}" type="pres">
      <dgm:prSet presAssocID="{0D8B2D8C-28D4-49A7-B16A-3079366A3E74}" presName="space" presStyleCnt="0"/>
      <dgm:spPr/>
      <dgm:t>
        <a:bodyPr/>
        <a:lstStyle/>
        <a:p>
          <a:endParaRPr lang="en-US"/>
        </a:p>
      </dgm:t>
    </dgm:pt>
    <dgm:pt modelId="{9BA9E2F9-AE83-4CD0-AFF8-2EACF5534042}" type="pres">
      <dgm:prSet presAssocID="{53B90668-02F7-4398-B676-DDCC2E5F306A}" presName="composite" presStyleCnt="0"/>
      <dgm:spPr/>
      <dgm:t>
        <a:bodyPr/>
        <a:lstStyle/>
        <a:p>
          <a:endParaRPr lang="en-US"/>
        </a:p>
      </dgm:t>
    </dgm:pt>
    <dgm:pt modelId="{F3A818D9-C0CC-4671-BF70-86C97797A1D8}" type="pres">
      <dgm:prSet presAssocID="{53B90668-02F7-4398-B676-DDCC2E5F306A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D624728-1B52-4C09-BA42-40BA8A4990A8}" type="pres">
      <dgm:prSet presAssocID="{53B90668-02F7-4398-B676-DDCC2E5F306A}" presName="desTx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B82CF9C-B261-40D1-960D-7D931DEFC6B0}" type="presOf" srcId="{15267B73-53B7-414A-A0B7-19236D51CA7D}" destId="{0FDA69A8-DB78-4567-ACC8-3FAE70375899}" srcOrd="0" destOrd="5" presId="urn:microsoft.com/office/officeart/2005/8/layout/hList1"/>
    <dgm:cxn modelId="{C22166F2-7973-428E-9B42-896DCDA1A3BF}" type="presOf" srcId="{0B1F7F02-5D6B-4F61-9A95-5C96D941B821}" destId="{83B919E2-6B20-42B0-8483-A751B9659F9A}" srcOrd="0" destOrd="0" presId="urn:microsoft.com/office/officeart/2005/8/layout/hList1"/>
    <dgm:cxn modelId="{05BBC2BA-6135-436E-B5F9-8524CFAA99B2}" srcId="{A83F0628-58E6-488F-A896-6044F639ABF0}" destId="{53B90668-02F7-4398-B676-DDCC2E5F306A}" srcOrd="3" destOrd="0" parTransId="{5046A58B-8E3F-4561-AD36-5D3543029927}" sibTransId="{A93CF336-EEBB-46CE-BE67-EF923AE0254D}"/>
    <dgm:cxn modelId="{4A67BB4A-ABE8-4C81-841A-3BA17B9F18AC}" srcId="{A83F0628-58E6-488F-A896-6044F639ABF0}" destId="{F05A9F65-AE81-4428-B4B6-1294C9A21C66}" srcOrd="1" destOrd="0" parTransId="{FA4F6DEB-BE36-4550-AEFA-9364C3C806CB}" sibTransId="{0A9D82D0-93A5-4F0C-98C2-25C18800349F}"/>
    <dgm:cxn modelId="{CD37E9A0-9DD6-409F-8B6B-DD7EF952D9E6}" type="presOf" srcId="{14BBFEE5-F052-4727-8135-87D846A8A178}" destId="{A0D6DE63-1CA2-4DDF-8209-5884C5F7387A}" srcOrd="0" destOrd="1" presId="urn:microsoft.com/office/officeart/2005/8/layout/hList1"/>
    <dgm:cxn modelId="{78C82EC9-D982-4BBF-857A-866F7F39915A}" srcId="{A8499B40-7734-42A4-8523-8921061A11A5}" destId="{8B1F2B4D-CB1B-4850-B933-0FDF3F13FEFF}" srcOrd="4" destOrd="0" parTransId="{E0796C38-0D86-4EA9-84FC-3CCC922915B0}" sibTransId="{2D737159-2300-4F61-B039-F8ED2A05BBCD}"/>
    <dgm:cxn modelId="{67BB1E45-E196-4426-A3A7-37F6FFC4E8DA}" type="presOf" srcId="{A8844B65-E977-464B-9C14-3E522716426F}" destId="{0FDA69A8-DB78-4567-ACC8-3FAE70375899}" srcOrd="0" destOrd="4" presId="urn:microsoft.com/office/officeart/2005/8/layout/hList1"/>
    <dgm:cxn modelId="{FCC622F0-D9DD-4713-BE67-57345D910EEB}" type="presOf" srcId="{A83F0628-58E6-488F-A896-6044F639ABF0}" destId="{D3187BB4-4815-42C9-A28E-72F9793C2B14}" srcOrd="0" destOrd="0" presId="urn:microsoft.com/office/officeart/2005/8/layout/hList1"/>
    <dgm:cxn modelId="{DE12A013-F019-42BD-BFE1-9D8A44EA6689}" srcId="{A83F0628-58E6-488F-A896-6044F639ABF0}" destId="{A8499B40-7734-42A4-8523-8921061A11A5}" srcOrd="2" destOrd="0" parTransId="{E185BAC9-F291-40B4-A263-1D424A921258}" sibTransId="{0D8B2D8C-28D4-49A7-B16A-3079366A3E74}"/>
    <dgm:cxn modelId="{4DF17F14-C947-44A1-9B6E-866FD6192E9F}" type="presOf" srcId="{4EC926FB-8A22-4BCB-AE0D-976774C78233}" destId="{65AFD6A8-490A-4F15-A746-081EF9A5D4D9}" srcOrd="0" destOrd="4" presId="urn:microsoft.com/office/officeart/2005/8/layout/hList1"/>
    <dgm:cxn modelId="{256EFEB8-A8D2-418E-81A6-F1D42017CB7F}" type="presOf" srcId="{53B90668-02F7-4398-B676-DDCC2E5F306A}" destId="{F3A818D9-C0CC-4671-BF70-86C97797A1D8}" srcOrd="0" destOrd="0" presId="urn:microsoft.com/office/officeart/2005/8/layout/hList1"/>
    <dgm:cxn modelId="{DC94F08D-D11D-4B61-B473-2D157EBD5A7B}" srcId="{F05A9F65-AE81-4428-B4B6-1294C9A21C66}" destId="{0A81074E-25C9-4F6D-B546-C6A0EA0930F2}" srcOrd="1" destOrd="0" parTransId="{D2BFCF96-8D48-42F1-BD79-24F97D591EB8}" sibTransId="{28BAF6D6-FD89-4FF9-B891-BB826F0C46F8}"/>
    <dgm:cxn modelId="{5C080D8D-7445-4A71-84AB-5B882B1CE519}" type="presOf" srcId="{F9B7AC23-20DD-4D38-83AB-7168BB4049A3}" destId="{65AFD6A8-490A-4F15-A746-081EF9A5D4D9}" srcOrd="0" destOrd="3" presId="urn:microsoft.com/office/officeart/2005/8/layout/hList1"/>
    <dgm:cxn modelId="{5E2A8791-5550-45DC-B54F-BCA3636CF67B}" type="presOf" srcId="{D1D2F68E-D341-4F6F-B0A1-B57A93344300}" destId="{0D624728-1B52-4C09-BA42-40BA8A4990A8}" srcOrd="0" destOrd="0" presId="urn:microsoft.com/office/officeart/2005/8/layout/hList1"/>
    <dgm:cxn modelId="{2A7F7D48-81C9-4671-B53A-6254612818E1}" srcId="{F05A9F65-AE81-4428-B4B6-1294C9A21C66}" destId="{4EC926FB-8A22-4BCB-AE0D-976774C78233}" srcOrd="4" destOrd="0" parTransId="{8AE38F14-E546-4E4D-A401-BE59A32ECDF3}" sibTransId="{CCA22036-A371-444F-B7B3-EF8A08F1C4C2}"/>
    <dgm:cxn modelId="{32F5DFE0-E570-4CC5-AAD6-65AE5409A21C}" type="presOf" srcId="{90FD77B4-45B7-4EB0-8781-82D70BA7A1D4}" destId="{65AFD6A8-490A-4F15-A746-081EF9A5D4D9}" srcOrd="0" destOrd="0" presId="urn:microsoft.com/office/officeart/2005/8/layout/hList1"/>
    <dgm:cxn modelId="{8AAABD4F-BBE4-44BA-8E17-D2C70077D7E1}" srcId="{0B1F7F02-5D6B-4F61-9A95-5C96D941B821}" destId="{9E1DF76A-7FFA-4BA0-B7FF-ED75A3A7C4E4}" srcOrd="2" destOrd="0" parTransId="{F0330204-F0A5-4A4E-8A45-A62ED6AFFDDC}" sibTransId="{03916150-0119-4466-B961-8B006BC97145}"/>
    <dgm:cxn modelId="{3F17941F-4690-4B7A-9201-3D246B1C42D0}" srcId="{0B1F7F02-5D6B-4F61-9A95-5C96D941B821}" destId="{15267B73-53B7-414A-A0B7-19236D51CA7D}" srcOrd="5" destOrd="0" parTransId="{08E0AC5D-142F-483F-AA1A-6F40C84FB122}" sibTransId="{A9230C59-0BD1-462C-8629-ACD12F688940}"/>
    <dgm:cxn modelId="{2375D0D6-61B3-4F3F-948B-6E5FEC50C2AD}" srcId="{0B1F7F02-5D6B-4F61-9A95-5C96D941B821}" destId="{C2D37F81-E299-49BA-8201-8E7FC2E814CC}" srcOrd="3" destOrd="0" parTransId="{968DF13A-E6F6-4AC6-84BB-C859C18F829E}" sibTransId="{2BCDB927-1043-478B-84D4-B2FEF1244454}"/>
    <dgm:cxn modelId="{6A5588D8-AD1E-4A79-954B-D6B61185CFAA}" type="presOf" srcId="{C2D37F81-E299-49BA-8201-8E7FC2E814CC}" destId="{0FDA69A8-DB78-4567-ACC8-3FAE70375899}" srcOrd="0" destOrd="3" presId="urn:microsoft.com/office/officeart/2005/8/layout/hList1"/>
    <dgm:cxn modelId="{A14C848A-5860-4A9D-8565-08D26D861E82}" type="presOf" srcId="{CBC901BE-D68E-4D04-B7F8-D28E94463E0C}" destId="{0D624728-1B52-4C09-BA42-40BA8A4990A8}" srcOrd="0" destOrd="2" presId="urn:microsoft.com/office/officeart/2005/8/layout/hList1"/>
    <dgm:cxn modelId="{4ED13B61-55FD-43DF-A22C-E77B4D120600}" srcId="{A8499B40-7734-42A4-8523-8921061A11A5}" destId="{B034A70F-E225-44B6-97ED-6725D720D18F}" srcOrd="3" destOrd="0" parTransId="{2C0F3C31-0D9A-442D-8592-937280214B71}" sibTransId="{B7ED6061-F303-4B4E-B3AE-F3706D8A21DD}"/>
    <dgm:cxn modelId="{5EA2DF44-F66E-49CD-BD7E-AF1927F5FB2B}" type="presOf" srcId="{F10A2B40-9AF0-4E5A-AF35-3C2BD8A84AEE}" destId="{0D624728-1B52-4C09-BA42-40BA8A4990A8}" srcOrd="0" destOrd="1" presId="urn:microsoft.com/office/officeart/2005/8/layout/hList1"/>
    <dgm:cxn modelId="{32150CBE-AE10-46C8-BB42-DF502444FADF}" srcId="{53B90668-02F7-4398-B676-DDCC2E5F306A}" destId="{CBC901BE-D68E-4D04-B7F8-D28E94463E0C}" srcOrd="2" destOrd="0" parTransId="{123E2886-9FB3-446C-A18C-483AA10B5033}" sibTransId="{DA64ACA4-3788-480A-950D-7B8FDF852C59}"/>
    <dgm:cxn modelId="{51FBC2F4-26E0-4C22-9A96-BFDCC7203DFE}" srcId="{0B1F7F02-5D6B-4F61-9A95-5C96D941B821}" destId="{40666123-273E-4C90-92BE-EB7982EE45EA}" srcOrd="0" destOrd="0" parTransId="{AA30BB4F-B460-4523-97A4-93E1D8365FD0}" sibTransId="{69424CAC-4CFB-4CAD-BB86-7DF3D4C1D1EF}"/>
    <dgm:cxn modelId="{83D2F2A1-506C-4BC7-AE03-E25C935B1946}" srcId="{53B90668-02F7-4398-B676-DDCC2E5F306A}" destId="{D1D2F68E-D341-4F6F-B0A1-B57A93344300}" srcOrd="0" destOrd="0" parTransId="{4847D6C5-9FF0-4A8F-B575-5C738B7EC296}" sibTransId="{DBDF53DD-2433-4183-A0EC-960B2EDAF319}"/>
    <dgm:cxn modelId="{A698FD69-A692-4FA2-8D1B-71C4F14AFDC4}" type="presOf" srcId="{A8499B40-7734-42A4-8523-8921061A11A5}" destId="{D58FF2B2-7D86-4F62-9787-E8CA174191FA}" srcOrd="0" destOrd="0" presId="urn:microsoft.com/office/officeart/2005/8/layout/hList1"/>
    <dgm:cxn modelId="{28874381-5D24-4A5F-BBCC-EC9ED9F49AC5}" srcId="{A8499B40-7734-42A4-8523-8921061A11A5}" destId="{70EF124B-2C86-4DC4-8887-78265228BDCD}" srcOrd="2" destOrd="0" parTransId="{18062B10-6C13-4914-B6B7-E170FC031479}" sibTransId="{84D96EC1-2F1B-4497-9402-7123DF890AEF}"/>
    <dgm:cxn modelId="{BE4FDA55-1B42-41A3-9ECA-6B5BBD3BD9D0}" srcId="{A8499B40-7734-42A4-8523-8921061A11A5}" destId="{88E53CE7-05F6-499B-9180-5A5FB5431801}" srcOrd="0" destOrd="0" parTransId="{666B0B6F-50E7-4ED3-B9FA-6E56964114CB}" sibTransId="{4B337861-1021-43CC-A997-C3F448F45B1D}"/>
    <dgm:cxn modelId="{F904009C-E875-41C8-B0ED-9C6AB23B9A3A}" type="presOf" srcId="{0859521A-3F98-4658-A2B1-7FAB45722765}" destId="{0FDA69A8-DB78-4567-ACC8-3FAE70375899}" srcOrd="0" destOrd="1" presId="urn:microsoft.com/office/officeart/2005/8/layout/hList1"/>
    <dgm:cxn modelId="{0E0F50E7-42C1-40F0-B43D-C46530C82323}" type="presOf" srcId="{8B1F2B4D-CB1B-4850-B933-0FDF3F13FEFF}" destId="{A0D6DE63-1CA2-4DDF-8209-5884C5F7387A}" srcOrd="0" destOrd="4" presId="urn:microsoft.com/office/officeart/2005/8/layout/hList1"/>
    <dgm:cxn modelId="{F29023C9-4235-4E01-83E0-7B7A6A109161}" srcId="{0B1F7F02-5D6B-4F61-9A95-5C96D941B821}" destId="{0859521A-3F98-4658-A2B1-7FAB45722765}" srcOrd="1" destOrd="0" parTransId="{1A67924A-AED3-4245-B5EE-E3938131A545}" sibTransId="{C07E81AE-028C-445B-A474-311B3F71C42B}"/>
    <dgm:cxn modelId="{EE24BEC6-BE56-4171-8DF4-131889B995C7}" srcId="{0B1F7F02-5D6B-4F61-9A95-5C96D941B821}" destId="{A8844B65-E977-464B-9C14-3E522716426F}" srcOrd="4" destOrd="0" parTransId="{FB35048C-E46C-4DE3-8162-C439CFAC63BA}" sibTransId="{972483EB-5FCA-466E-984E-E9FDC7A458C3}"/>
    <dgm:cxn modelId="{01658A0F-4B3E-48D5-B286-1144CAB4B5A1}" srcId="{53B90668-02F7-4398-B676-DDCC2E5F306A}" destId="{F10A2B40-9AF0-4E5A-AF35-3C2BD8A84AEE}" srcOrd="1" destOrd="0" parTransId="{EF850D02-88C0-4F08-812E-03CDE4805FBF}" sibTransId="{566B68C8-5D85-4D00-B472-8592314A74C0}"/>
    <dgm:cxn modelId="{11438C62-ECC5-4CCE-92DC-906E03713ED1}" type="presOf" srcId="{9E1DF76A-7FFA-4BA0-B7FF-ED75A3A7C4E4}" destId="{0FDA69A8-DB78-4567-ACC8-3FAE70375899}" srcOrd="0" destOrd="2" presId="urn:microsoft.com/office/officeart/2005/8/layout/hList1"/>
    <dgm:cxn modelId="{28D84823-93CE-4212-A44F-777B0B5FDAB4}" type="presOf" srcId="{35265A3B-3B34-4A25-A112-C211DD5694B2}" destId="{65AFD6A8-490A-4F15-A746-081EF9A5D4D9}" srcOrd="0" destOrd="2" presId="urn:microsoft.com/office/officeart/2005/8/layout/hList1"/>
    <dgm:cxn modelId="{EDDF3271-739C-4621-A733-B33DD821659F}" srcId="{F05A9F65-AE81-4428-B4B6-1294C9A21C66}" destId="{F9B7AC23-20DD-4D38-83AB-7168BB4049A3}" srcOrd="3" destOrd="0" parTransId="{3D344A45-1000-4F41-98CF-7065143B6F5B}" sibTransId="{FE4BAC89-0C72-490D-A5DA-F5A6C64F074D}"/>
    <dgm:cxn modelId="{B82592BA-AE26-4161-A5A9-1839708B2B6A}" srcId="{A8499B40-7734-42A4-8523-8921061A11A5}" destId="{14BBFEE5-F052-4727-8135-87D846A8A178}" srcOrd="1" destOrd="0" parTransId="{15E4C6D6-4883-4CFA-89A5-8C377EFA94AE}" sibTransId="{C947591F-A949-4F86-B425-1BC7C366CC75}"/>
    <dgm:cxn modelId="{4F414305-5364-4429-B7C5-A87F749BAE41}" srcId="{F05A9F65-AE81-4428-B4B6-1294C9A21C66}" destId="{90FD77B4-45B7-4EB0-8781-82D70BA7A1D4}" srcOrd="0" destOrd="0" parTransId="{D3318CCD-AA93-45E4-8F1E-758DCA1F5E79}" sibTransId="{5F54A8D8-4641-432F-A9F7-98ED2A56E9EA}"/>
    <dgm:cxn modelId="{0A004354-3120-42FD-897D-077157DD478E}" type="presOf" srcId="{70EF124B-2C86-4DC4-8887-78265228BDCD}" destId="{A0D6DE63-1CA2-4DDF-8209-5884C5F7387A}" srcOrd="0" destOrd="2" presId="urn:microsoft.com/office/officeart/2005/8/layout/hList1"/>
    <dgm:cxn modelId="{2265F144-6AFF-4208-81CD-942498056CA8}" type="presOf" srcId="{B034A70F-E225-44B6-97ED-6725D720D18F}" destId="{A0D6DE63-1CA2-4DDF-8209-5884C5F7387A}" srcOrd="0" destOrd="3" presId="urn:microsoft.com/office/officeart/2005/8/layout/hList1"/>
    <dgm:cxn modelId="{52EE848D-6266-429F-8176-88843145B3AD}" type="presOf" srcId="{0A81074E-25C9-4F6D-B546-C6A0EA0930F2}" destId="{65AFD6A8-490A-4F15-A746-081EF9A5D4D9}" srcOrd="0" destOrd="1" presId="urn:microsoft.com/office/officeart/2005/8/layout/hList1"/>
    <dgm:cxn modelId="{DB98259F-FC6C-465A-820A-DA1E90CB6FA8}" type="presOf" srcId="{F05A9F65-AE81-4428-B4B6-1294C9A21C66}" destId="{D3EDA91B-BC84-470B-804C-6A32A59C222F}" srcOrd="0" destOrd="0" presId="urn:microsoft.com/office/officeart/2005/8/layout/hList1"/>
    <dgm:cxn modelId="{3FD6B03E-9DDB-4195-AF1B-53417C3F1244}" type="presOf" srcId="{88E53CE7-05F6-499B-9180-5A5FB5431801}" destId="{A0D6DE63-1CA2-4DDF-8209-5884C5F7387A}" srcOrd="0" destOrd="0" presId="urn:microsoft.com/office/officeart/2005/8/layout/hList1"/>
    <dgm:cxn modelId="{E0F1918E-C9FD-43A9-834B-9DE899115ADE}" srcId="{A83F0628-58E6-488F-A896-6044F639ABF0}" destId="{0B1F7F02-5D6B-4F61-9A95-5C96D941B821}" srcOrd="0" destOrd="0" parTransId="{0F7EBEB0-6E4A-48E5-9C2E-80644E3EAB06}" sibTransId="{EF77D2FB-5821-4982-8E0A-C6902B59A54E}"/>
    <dgm:cxn modelId="{E658239B-0422-4E57-BA27-B34CAC969FB7}" srcId="{F05A9F65-AE81-4428-B4B6-1294C9A21C66}" destId="{35265A3B-3B34-4A25-A112-C211DD5694B2}" srcOrd="2" destOrd="0" parTransId="{1154EBD3-1D46-4E13-BA89-2E7DA0F16B3E}" sibTransId="{1C1DB30B-4FEA-452E-85A3-DEB4D636D4EE}"/>
    <dgm:cxn modelId="{4A776A16-FA84-4B30-929D-2236FFB65E99}" type="presOf" srcId="{40666123-273E-4C90-92BE-EB7982EE45EA}" destId="{0FDA69A8-DB78-4567-ACC8-3FAE70375899}" srcOrd="0" destOrd="0" presId="urn:microsoft.com/office/officeart/2005/8/layout/hList1"/>
    <dgm:cxn modelId="{A347B2AC-6790-4D1C-8912-6569214B7D37}" type="presParOf" srcId="{D3187BB4-4815-42C9-A28E-72F9793C2B14}" destId="{8B41F1A6-B367-4474-ACE4-33C000E09268}" srcOrd="0" destOrd="0" presId="urn:microsoft.com/office/officeart/2005/8/layout/hList1"/>
    <dgm:cxn modelId="{5B2556B4-F8D6-452C-8BC5-3D532CABEA4B}" type="presParOf" srcId="{8B41F1A6-B367-4474-ACE4-33C000E09268}" destId="{83B919E2-6B20-42B0-8483-A751B9659F9A}" srcOrd="0" destOrd="0" presId="urn:microsoft.com/office/officeart/2005/8/layout/hList1"/>
    <dgm:cxn modelId="{DED4B163-5734-4090-AE00-093D8075E787}" type="presParOf" srcId="{8B41F1A6-B367-4474-ACE4-33C000E09268}" destId="{0FDA69A8-DB78-4567-ACC8-3FAE70375899}" srcOrd="1" destOrd="0" presId="urn:microsoft.com/office/officeart/2005/8/layout/hList1"/>
    <dgm:cxn modelId="{E5963494-6CFD-4346-9C8C-5631FB65CD1A}" type="presParOf" srcId="{D3187BB4-4815-42C9-A28E-72F9793C2B14}" destId="{9E47AE34-80B2-4A76-B39A-3590571F3F65}" srcOrd="1" destOrd="0" presId="urn:microsoft.com/office/officeart/2005/8/layout/hList1"/>
    <dgm:cxn modelId="{0C63CF3D-9647-4E4E-8CC0-7DA49C1D7437}" type="presParOf" srcId="{D3187BB4-4815-42C9-A28E-72F9793C2B14}" destId="{C3FD6AC6-142A-43F6-A432-10243EF550C8}" srcOrd="2" destOrd="0" presId="urn:microsoft.com/office/officeart/2005/8/layout/hList1"/>
    <dgm:cxn modelId="{5A7384D1-3E78-4194-8F97-6BDC46F86B67}" type="presParOf" srcId="{C3FD6AC6-142A-43F6-A432-10243EF550C8}" destId="{D3EDA91B-BC84-470B-804C-6A32A59C222F}" srcOrd="0" destOrd="0" presId="urn:microsoft.com/office/officeart/2005/8/layout/hList1"/>
    <dgm:cxn modelId="{58C478DB-0F81-4C7C-9F8B-92D4E02C4C1D}" type="presParOf" srcId="{C3FD6AC6-142A-43F6-A432-10243EF550C8}" destId="{65AFD6A8-490A-4F15-A746-081EF9A5D4D9}" srcOrd="1" destOrd="0" presId="urn:microsoft.com/office/officeart/2005/8/layout/hList1"/>
    <dgm:cxn modelId="{8202AA01-93B5-40EC-9657-6B822E900A98}" type="presParOf" srcId="{D3187BB4-4815-42C9-A28E-72F9793C2B14}" destId="{A2F978FE-BE84-4D50-A393-6FE0E4A47BD0}" srcOrd="3" destOrd="0" presId="urn:microsoft.com/office/officeart/2005/8/layout/hList1"/>
    <dgm:cxn modelId="{C5F5C240-DF6F-4DE4-B4FC-75637537D5CA}" type="presParOf" srcId="{D3187BB4-4815-42C9-A28E-72F9793C2B14}" destId="{CFE0EDAF-3851-4027-82E9-6E8068341B76}" srcOrd="4" destOrd="0" presId="urn:microsoft.com/office/officeart/2005/8/layout/hList1"/>
    <dgm:cxn modelId="{94F1E245-0A8A-45AC-BF53-F4FF39B749C3}" type="presParOf" srcId="{CFE0EDAF-3851-4027-82E9-6E8068341B76}" destId="{D58FF2B2-7D86-4F62-9787-E8CA174191FA}" srcOrd="0" destOrd="0" presId="urn:microsoft.com/office/officeart/2005/8/layout/hList1"/>
    <dgm:cxn modelId="{15CC1B3B-0503-4E4F-AC45-0072D9AE477F}" type="presParOf" srcId="{CFE0EDAF-3851-4027-82E9-6E8068341B76}" destId="{A0D6DE63-1CA2-4DDF-8209-5884C5F7387A}" srcOrd="1" destOrd="0" presId="urn:microsoft.com/office/officeart/2005/8/layout/hList1"/>
    <dgm:cxn modelId="{0F0B8DCA-F22A-4F60-BA34-D6D56EB9D83B}" type="presParOf" srcId="{D3187BB4-4815-42C9-A28E-72F9793C2B14}" destId="{58FE61C2-DBF2-4479-96C8-00B5F6C7D46A}" srcOrd="5" destOrd="0" presId="urn:microsoft.com/office/officeart/2005/8/layout/hList1"/>
    <dgm:cxn modelId="{972CB062-2949-40BC-A365-22735AC2ABC5}" type="presParOf" srcId="{D3187BB4-4815-42C9-A28E-72F9793C2B14}" destId="{9BA9E2F9-AE83-4CD0-AFF8-2EACF5534042}" srcOrd="6" destOrd="0" presId="urn:microsoft.com/office/officeart/2005/8/layout/hList1"/>
    <dgm:cxn modelId="{5653AE6C-A8CA-4D6C-AAF5-FF95CE0E1CC7}" type="presParOf" srcId="{9BA9E2F9-AE83-4CD0-AFF8-2EACF5534042}" destId="{F3A818D9-C0CC-4671-BF70-86C97797A1D8}" srcOrd="0" destOrd="0" presId="urn:microsoft.com/office/officeart/2005/8/layout/hList1"/>
    <dgm:cxn modelId="{F458C0C6-FDE2-42C4-AA95-9CDC4FAF7142}" type="presParOf" srcId="{9BA9E2F9-AE83-4CD0-AFF8-2EACF5534042}" destId="{0D624728-1B52-4C09-BA42-40BA8A4990A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B919E2-6B20-42B0-8483-A751B9659F9A}">
      <dsp:nvSpPr>
        <dsp:cNvPr id="0" name=""/>
        <dsp:cNvSpPr/>
      </dsp:nvSpPr>
      <dsp:spPr>
        <a:xfrm>
          <a:off x="4346" y="211582"/>
          <a:ext cx="2613729" cy="604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Pre- processing</a:t>
          </a:r>
          <a:endParaRPr lang="en-US" sz="2100" kern="1200" dirty="0"/>
        </a:p>
      </dsp:txBody>
      <dsp:txXfrm>
        <a:off x="4346" y="211582"/>
        <a:ext cx="2613729" cy="604800"/>
      </dsp:txXfrm>
    </dsp:sp>
    <dsp:sp modelId="{0FDA69A8-DB78-4567-ACC8-3FAE70375899}">
      <dsp:nvSpPr>
        <dsp:cNvPr id="0" name=""/>
        <dsp:cNvSpPr/>
      </dsp:nvSpPr>
      <dsp:spPr>
        <a:xfrm>
          <a:off x="4346" y="816382"/>
          <a:ext cx="2613729" cy="4390702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Shape of data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Data type of columns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Handle Null values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Handle Duplicates values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Analyze Unique values for each column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100" kern="1200" dirty="0"/>
        </a:p>
      </dsp:txBody>
      <dsp:txXfrm>
        <a:off x="4346" y="816382"/>
        <a:ext cx="2613729" cy="4390702"/>
      </dsp:txXfrm>
    </dsp:sp>
    <dsp:sp modelId="{D3EDA91B-BC84-470B-804C-6A32A59C222F}">
      <dsp:nvSpPr>
        <dsp:cNvPr id="0" name=""/>
        <dsp:cNvSpPr/>
      </dsp:nvSpPr>
      <dsp:spPr>
        <a:xfrm>
          <a:off x="2983998" y="211582"/>
          <a:ext cx="2613729" cy="604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Insights</a:t>
          </a:r>
          <a:endParaRPr lang="en-US" sz="2100" kern="1200" dirty="0"/>
        </a:p>
      </dsp:txBody>
      <dsp:txXfrm>
        <a:off x="2983998" y="211582"/>
        <a:ext cx="2613729" cy="604800"/>
      </dsp:txXfrm>
    </dsp:sp>
    <dsp:sp modelId="{65AFD6A8-490A-4F15-A746-081EF9A5D4D9}">
      <dsp:nvSpPr>
        <dsp:cNvPr id="0" name=""/>
        <dsp:cNvSpPr/>
      </dsp:nvSpPr>
      <dsp:spPr>
        <a:xfrm>
          <a:off x="2983998" y="816382"/>
          <a:ext cx="2613729" cy="4390702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Identify store with Max and Min sales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Identify Top 5 and Bottom 5 stores by Sales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Diff between Max and Min Sales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Identify Week of Max sales across all stores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Graph- Sales by Store Number</a:t>
          </a:r>
          <a:endParaRPr lang="en-US" sz="2100" kern="1200" dirty="0"/>
        </a:p>
      </dsp:txBody>
      <dsp:txXfrm>
        <a:off x="2983998" y="816382"/>
        <a:ext cx="2613729" cy="4390702"/>
      </dsp:txXfrm>
    </dsp:sp>
    <dsp:sp modelId="{D58FF2B2-7D86-4F62-9787-E8CA174191FA}">
      <dsp:nvSpPr>
        <dsp:cNvPr id="0" name=""/>
        <dsp:cNvSpPr/>
      </dsp:nvSpPr>
      <dsp:spPr>
        <a:xfrm>
          <a:off x="5963651" y="211582"/>
          <a:ext cx="2613729" cy="604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Features</a:t>
          </a:r>
          <a:endParaRPr lang="en-US" sz="2100" kern="1200" dirty="0"/>
        </a:p>
      </dsp:txBody>
      <dsp:txXfrm>
        <a:off x="5963651" y="211582"/>
        <a:ext cx="2613729" cy="604800"/>
      </dsp:txXfrm>
    </dsp:sp>
    <dsp:sp modelId="{A0D6DE63-1CA2-4DDF-8209-5884C5F7387A}">
      <dsp:nvSpPr>
        <dsp:cNvPr id="0" name=""/>
        <dsp:cNvSpPr/>
      </dsp:nvSpPr>
      <dsp:spPr>
        <a:xfrm>
          <a:off x="5963651" y="816382"/>
          <a:ext cx="2613729" cy="4390702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Heat map of all features with one another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Identify and remove features having outliers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Analyze impact of Annual Year, Unemployment and CPI on Sales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Correlation of Unemployment &amp; CPI with Sales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100" kern="1200" dirty="0"/>
        </a:p>
      </dsp:txBody>
      <dsp:txXfrm>
        <a:off x="5963651" y="816382"/>
        <a:ext cx="2613729" cy="4390702"/>
      </dsp:txXfrm>
    </dsp:sp>
    <dsp:sp modelId="{F3A818D9-C0CC-4671-BF70-86C97797A1D8}">
      <dsp:nvSpPr>
        <dsp:cNvPr id="0" name=""/>
        <dsp:cNvSpPr/>
      </dsp:nvSpPr>
      <dsp:spPr>
        <a:xfrm>
          <a:off x="8943303" y="211582"/>
          <a:ext cx="2613729" cy="604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Predictive models</a:t>
          </a:r>
          <a:endParaRPr lang="en-US" sz="2100" kern="1200" dirty="0"/>
        </a:p>
      </dsp:txBody>
      <dsp:txXfrm>
        <a:off x="8943303" y="211582"/>
        <a:ext cx="2613729" cy="604800"/>
      </dsp:txXfrm>
    </dsp:sp>
    <dsp:sp modelId="{0D624728-1B52-4C09-BA42-40BA8A4990A8}">
      <dsp:nvSpPr>
        <dsp:cNvPr id="0" name=""/>
        <dsp:cNvSpPr/>
      </dsp:nvSpPr>
      <dsp:spPr>
        <a:xfrm>
          <a:off x="8943303" y="816382"/>
          <a:ext cx="2613729" cy="4390702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Analyze what Machine Learning will fit the requirement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Analyze Time Series- ARIMA and SARIMAX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/>
            <a:t>Present sales predictions using time series graph</a:t>
          </a:r>
          <a:endParaRPr lang="en-US" sz="2100" kern="1200" dirty="0"/>
        </a:p>
      </dsp:txBody>
      <dsp:txXfrm>
        <a:off x="8943303" y="816382"/>
        <a:ext cx="2613729" cy="4390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C202D-3612-440B-B1BA-31FFC79BCADB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A3C310-9D30-468B-B75C-CFF7D152F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225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1.bin"/><Relationship Id="rId4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5F21F7E-CEFA-4A8F-862E-8631C40CEA2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 dirty="0"/>
              <a:t>Format Background… &gt; Picture or texture fill &gt; Set to one of the dark or mid gradient options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15059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0B104FBB-E799-42A8-A4FA-483DC489523D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 dirty="0"/>
              <a:t>Format Background… &gt; Picture or texture fill &gt; Set to one of the dark or mid gradient options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69764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 72pt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40994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>
        <p15:guide id="1" orient="horz" pos="2160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 72pt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33237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>
        <p15:guide id="1" orient="horz" pos="2160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667CB869-86C7-4B5D-B21D-C7104400ECFC}"/>
              </a:ext>
            </a:extLst>
          </p:cNvPr>
          <p:cNvSpPr/>
          <p:nvPr userDrawn="1"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xmlns="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xmlns="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xmlns="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01D1C16-1E67-46BA-A7F0-31738E52069F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25991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xmlns="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xmlns="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xmlns="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xmlns="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DC0C86-80A9-481C-A2D5-6F509B89192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5104550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xmlns="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xmlns="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xmlns="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0481612-058D-4A52-B93E-53E75F305C81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2682738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xmlns="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xmlns="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EDFBD97-7A23-4453-9DFC-F825350AF9B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77483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xmlns="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xmlns="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xmlns="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77248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xmlns="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xmlns="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197142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xmlns="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9464481-354D-44BF-B8B2-E0AFA2830FD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650499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xmlns="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xmlns="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xmlns="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xmlns="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2837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xmlns="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xmlns="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B818ECE-32D7-4F71-A6CA-1144DA38ED6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660024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xmlns="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xmlns="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xmlns="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099138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xmlns="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xmlns="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xmlns="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xmlns="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xmlns="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197142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105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xmlns="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xmlns="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0631B51-29F3-4C51-AE6C-41E7796F9933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xmlns="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777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xmlns="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xmlns="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0631B51-29F3-4C51-AE6C-41E7796F9933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xmlns="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3631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xmlns="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xmlns="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xmlns="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xmlns="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xmlns="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xmlns="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92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xmlns="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xmlns="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xmlns="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xmlns="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xmlns="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xmlns="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7151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xmlns="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 dirty="0"/>
              <a:t>Place subtitle here in GT </a:t>
            </a:r>
            <a:r>
              <a:rPr lang="en-GB" dirty="0" err="1"/>
              <a:t>Sectra</a:t>
            </a:r>
            <a:r>
              <a:rPr lang="en-GB" dirty="0"/>
              <a:t>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xmlns="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410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xmlns="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xmlns="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0006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xmlns="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64015D5F-F315-4E58-856E-56BC8490AECE}"/>
              </a:ext>
            </a:extLst>
          </p:cNvPr>
          <p:cNvSpPr/>
          <p:nvPr userDrawn="1"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xmlns="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xmlns="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978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xmlns="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Place agenda summary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Agenda title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xmlns="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xmlns="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xmlns="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xmlns="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xmlns="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xmlns="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xmlns="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xmlns="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xmlns="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xmlns="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xmlns="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xmlns="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xmlns="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xmlns="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xmlns="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xmlns="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D72EABDE-2DC7-B441-8D65-EC926DD10B85}"/>
              </a:ext>
            </a:extLst>
          </p:cNvPr>
          <p:cNvCxnSpPr/>
          <p:nvPr userDrawn="1"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xmlns="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xmlns="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xmlns="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xmlns="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xmlns="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xmlns="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xmlns="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xmlns="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xmlns="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xmlns="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xmlns="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xmlns="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xmlns="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xmlns="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xmlns="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xmlns="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800593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xmlns="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xmlns="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215608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xmlns="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1263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 dirty="0"/>
              <a:t>Place subtitle here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835932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931">
          <p15:clr>
            <a:srgbClr val="547EB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xmlns="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Place sub-headline here in GT Sectra Fine </a:t>
            </a:r>
            <a:r>
              <a:rPr lang="en-US" dirty="0" err="1"/>
              <a:t>Rg</a:t>
            </a:r>
            <a:r>
              <a:rPr lang="en-US" dirty="0"/>
              <a:t>, indent for other levels 24pt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xmlns="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Place text here 20pt</a:t>
            </a:r>
          </a:p>
          <a:p>
            <a:pPr lvl="1"/>
            <a:r>
              <a:rPr lang="en-US" dirty="0"/>
              <a:t>Second level 20pt</a:t>
            </a:r>
          </a:p>
          <a:p>
            <a:pPr lvl="2"/>
            <a:r>
              <a:rPr lang="en-US" dirty="0"/>
              <a:t>Third level 20pt</a:t>
            </a:r>
          </a:p>
          <a:p>
            <a:pPr lvl="3"/>
            <a:r>
              <a:rPr lang="en-US" dirty="0"/>
              <a:t>Fourth level 18pt</a:t>
            </a:r>
          </a:p>
          <a:p>
            <a:pPr lvl="4"/>
            <a:r>
              <a:rPr lang="en-US" dirty="0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778821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3720">
          <p15:clr>
            <a:srgbClr val="C35E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xmlns="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xmlns="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057519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xmlns="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xmlns="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xmlns="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 dirty="0"/>
              <a:t>Place subtitle here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900243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932">
          <p15:clr>
            <a:srgbClr val="547EB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xmlns="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xmlns="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xmlns="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xmlns="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 dirty="0"/>
              <a:t>Place subtitle here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384739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xmlns="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xmlns="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xmlns="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 dirty="0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xmlns="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xmlns="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 dirty="0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xmlns="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xmlns="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 dirty="0"/>
              <a:t>Place subtitle here 20pt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921497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xmlns="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xmlns="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xmlns="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xmlns="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xmlns="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xmlns="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xmlns="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xmlns="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xmlns="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xmlns="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xmlns="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xmlns="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 dirty="0"/>
              <a:t>Place subtitle here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76370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xmlns="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xmlns="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xmlns="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xmlns="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xmlns="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xmlns="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B13EDE11-CE40-4943-AE63-A3B14CB3C037}"/>
              </a:ext>
            </a:extLst>
          </p:cNvPr>
          <p:cNvCxnSpPr>
            <a:cxnSpLocks/>
          </p:cNvCxnSpPr>
          <p:nvPr userDrawn="1"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C67ED40C-58DA-45F1-8E80-6A74976C6E1E}"/>
              </a:ext>
            </a:extLst>
          </p:cNvPr>
          <p:cNvCxnSpPr/>
          <p:nvPr userDrawn="1"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xmlns="" id="{291A22B2-C08A-41DA-ACB1-5B59B4CDA8DE}"/>
              </a:ext>
            </a:extLst>
          </p:cNvPr>
          <p:cNvCxnSpPr/>
          <p:nvPr userDrawn="1"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xmlns="" id="{57D3E374-86AB-4A80-81AD-B09F07C51B80}"/>
              </a:ext>
            </a:extLst>
          </p:cNvPr>
          <p:cNvCxnSpPr/>
          <p:nvPr userDrawn="1"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xmlns="" id="{C3A5244A-D0CA-43CB-A0DB-296A219EDC9D}"/>
              </a:ext>
            </a:extLst>
          </p:cNvPr>
          <p:cNvCxnSpPr>
            <a:cxnSpLocks/>
          </p:cNvCxnSpPr>
          <p:nvPr userDrawn="1"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xmlns="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xmlns="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xmlns="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xmlns="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xmlns="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 dirty="0"/>
              <a:t>Place subtitle here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714489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xmlns="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xmlns="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xmlns="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xmlns="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xmlns="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xmlns="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xmlns="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xmlns="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52351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xmlns="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xmlns="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xmlns="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xmlns="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xmlns="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xmlns="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xmlns="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xmlns="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xmlns="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xmlns="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xmlns="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xmlns="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xmlns="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xmlns="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xmlns="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xmlns="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xmlns="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xmlns="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11796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3703">
          <p15:clr>
            <a:srgbClr val="C35E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xmlns="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xmlns="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xmlns="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xmlns="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xmlns="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xmlns="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xmlns="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xmlns="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xmlns="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xmlns="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xmlns="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xmlns="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xmlns="" id="{B49891DC-D80E-4D1B-961E-1B567E0E453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xmlns="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xmlns="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xmlns="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xmlns="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xmlns="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xmlns="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7858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>
        <p15:guide id="1" orient="horz" pos="3703">
          <p15:clr>
            <a:srgbClr val="C35E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dirty="0"/>
              <a:t>Place text here, use indent to access other levels 20pt</a:t>
            </a:r>
          </a:p>
          <a:p>
            <a:pPr lvl="1"/>
            <a:r>
              <a:rPr lang="en-GB" dirty="0"/>
              <a:t>Second level 20pt</a:t>
            </a:r>
          </a:p>
          <a:p>
            <a:pPr lvl="2"/>
            <a:r>
              <a:rPr lang="en-GB" dirty="0"/>
              <a:t>Third level 20pt</a:t>
            </a:r>
          </a:p>
          <a:p>
            <a:pPr lvl="3"/>
            <a:r>
              <a:rPr lang="en-GB" dirty="0"/>
              <a:t>Fourth level 18pt</a:t>
            </a:r>
          </a:p>
          <a:p>
            <a:pPr lvl="4"/>
            <a:r>
              <a:rPr lang="en-GB" dirty="0"/>
              <a:t>Fifth level 18pt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xmlns="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xmlns="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xmlns="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xmlns="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xmlns="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xmlns="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xmlns="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xmlns="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xmlns="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xmlns="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xmlns="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xmlns="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xmlns="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xmlns="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xmlns="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xmlns="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xmlns="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xmlns="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xmlns="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xmlns="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xmlns="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xmlns="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xmlns="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xmlns="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566288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Drag picture to placeholder or click icon to add, then ‘Send to Back’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xmlns="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xmlns="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Place sub-headline here in GT Sectra Fine </a:t>
            </a:r>
            <a:r>
              <a:rPr lang="en-US" dirty="0" err="1"/>
              <a:t>Rg</a:t>
            </a:r>
            <a:r>
              <a:rPr lang="en-US" dirty="0"/>
              <a:t>, indent for other levels 24pt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754256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xmlns="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7F8DBAF1-DC97-4CAB-B174-0AAA55CCB2E8}"/>
              </a:ext>
            </a:extLst>
          </p:cNvPr>
          <p:cNvSpPr/>
          <p:nvPr userDrawn="1"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xmlns="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xmlns="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Place sub-headline here in GT Sectra Fine </a:t>
            </a:r>
            <a:r>
              <a:rPr lang="en-US" dirty="0" err="1"/>
              <a:t>Rg</a:t>
            </a:r>
            <a:r>
              <a:rPr lang="en-US" dirty="0"/>
              <a:t>, indent for other levels 24pt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5519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xmlns="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xmlns="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quote or key message here 54pt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48280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xmlns="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quote or key message here 54pt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197098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7FF1C6BE-E6FE-4BD6-8477-A09403EEE56E}"/>
              </a:ext>
            </a:extLst>
          </p:cNvPr>
          <p:cNvSpPr/>
          <p:nvPr userDrawn="1"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xmlns="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xmlns="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xmlns="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xmlns="" id="{149C8D0A-C37D-4D9A-9703-8A0AFB18570C}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xmlns="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xmlns="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xmlns="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xmlns="" id="{1BE5BBCC-C957-48B6-99B6-EF1F3E80F622}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394EF33C-E010-4503-AC38-BB48E62572E9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xmlns="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xmlns="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xmlns="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879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7F8DBAF1-DC97-4CAB-B174-0AAA55CCB2E8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F2E53630-789F-425F-8AB1-96EFF4EA1E46}"/>
              </a:ext>
            </a:extLst>
          </p:cNvPr>
          <p:cNvSpPr/>
          <p:nvPr userDrawn="1"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D16F949-3472-4EBC-9DC1-05EC807C9FC0}"/>
              </a:ext>
            </a:extLst>
          </p:cNvPr>
          <p:cNvSpPr/>
          <p:nvPr userDrawn="1"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xmlns="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</a:t>
            </a:r>
          </a:p>
          <a:p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xmlns="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xmlns="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xmlns="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xmlns="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xmlns="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xmlns="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xmlns="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 dirty="0"/>
              <a:t>Drag picture to placeholder </a:t>
            </a:r>
          </a:p>
          <a:p>
            <a:pPr marL="228600" lvl="0" indent="-228600" algn="ctr"/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xmlns="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xmlns="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xmlns="" id="{9BC0904C-6BDA-4032-94C2-6417F59042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997" y="380999"/>
            <a:ext cx="5333972" cy="2393952"/>
          </a:xfrm>
        </p:spPr>
        <p:txBody>
          <a:bodyPr anchor="ctr"/>
          <a:lstStyle>
            <a:lvl1pPr marL="0" indent="0">
              <a:buNone/>
              <a:defRPr kumimoji="0" lang="en-US" sz="36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P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lace headline here 36pt, min 30pt)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3971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xmlns="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 54pt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6535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4431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headline here 54pt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885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xmlns="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81881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 dirty="0"/>
              <a:t>Place subtitle here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938775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932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377492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635E011-88EB-4D3D-A172-0468225712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C1BBE33-A891-48E8-970C-4A8D55F96D53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xmlns="" id="{7ADB0E67-A0F8-4E12-9495-3388D2FEB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31748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460177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 Layout">
    <p:bg>
      <p:bgPr>
        <a:solidFill>
          <a:schemeClr val="tx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85725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80975" indent="-180975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GB" dirty="0"/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xmlns="" id="{75CA6DF9-3D47-44A0-9AE6-EE81F577848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xmlns="" id="{F8D1DF11-64D7-450B-92C0-FFBB3964A6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 dirty="0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22542306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ility - 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xmlns="" id="{1E390D67-B2E0-4C0D-9A7A-36335A4636C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140306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think-cell Slide" r:id="rId5" imgW="396" imgH="396" progId="TCLayout.ActiveDocument.1">
                  <p:embed/>
                </p:oleObj>
              </mc:Choice>
              <mc:Fallback>
                <p:oleObj name="think-cell Slide" r:id="rId5" imgW="396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xmlns="" id="{1E390D67-B2E0-4C0D-9A7A-36335A4636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xmlns="" id="{4B2B7D09-6A55-4874-B005-47C01C3619CD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 w="19050" algn="ctr">
            <a:solidFill>
              <a:schemeClr val="accent2"/>
            </a:solidFill>
            <a:miter lim="800000"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400" b="0" i="0" kern="0" baseline="0">
              <a:latin typeface="TUITypeLight"/>
              <a:ea typeface="+mj-ea"/>
              <a:cs typeface="+mj-cs"/>
              <a:sym typeface="TUITypeLight"/>
            </a:endParaRP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xmlns="" id="{C6D89B53-DD7D-4CAC-A595-5A3EED51B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664224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xmlns="" id="{83ABDFC6-291A-4C3B-8079-BDF515666329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>
          <a:xfrm flipH="1">
            <a:off x="11617001" y="6537474"/>
            <a:ext cx="216084" cy="161888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59844"/>
      </p:ext>
    </p:extLst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xmlns="" id="{6F69D989-96CB-4426-98D4-EF14DB2802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618441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6" name="think-cell Slide" r:id="rId5" imgW="471" imgH="472" progId="TCLayout.ActiveDocument.1">
                  <p:embed/>
                </p:oleObj>
              </mc:Choice>
              <mc:Fallback>
                <p:oleObj name="think-cell Slide" r:id="rId5" imgW="471" imgH="472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xmlns="" id="{6F69D989-96CB-4426-98D4-EF14DB2802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xmlns="" id="{DB7F13FB-448D-40F7-BF8D-93E89F0398A2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  <a:sym typeface="Arial Black" panose="020B0A040201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BBCE063-97CA-4022-8D8E-B0FFF27ADB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2" y="836712"/>
            <a:ext cx="11474448" cy="720179"/>
          </a:xfrm>
        </p:spPr>
        <p:txBody>
          <a:bodyPr lIns="0" tIns="0" rIns="0" bIns="0"/>
          <a:lstStyle>
            <a:lvl1pPr>
              <a:lnSpc>
                <a:spcPct val="80000"/>
              </a:lnSpc>
              <a:defRPr lang="en-US" sz="2400" b="0" i="0" kern="1200" cap="all" spc="0" baseline="0" dirty="0">
                <a:solidFill>
                  <a:schemeClr val="accent1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defRPr>
            </a:lvl1pPr>
          </a:lstStyle>
          <a:p>
            <a:pPr lvl="0"/>
            <a:r>
              <a:rPr lang="en-US"/>
              <a:t>Click to edit Subtitle style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xmlns="" id="{A0DC0F54-F49E-4B8A-A7FE-E19D46DF2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5571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9132421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FIDENTIAL Title Master: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1" y="457200"/>
            <a:ext cx="8686800" cy="30861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543302"/>
            <a:ext cx="5715000" cy="3162299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defRPr sz="1800" b="0" baseline="0">
                <a:solidFill>
                  <a:schemeClr val="accent5"/>
                </a:solidFill>
                <a:latin typeface="Arial Black" panose="020B0A04020102020204" pitchFamily="34" charset="0"/>
              </a:defRPr>
            </a:lvl1pPr>
            <a:lvl2pPr marL="0" indent="0">
              <a:lnSpc>
                <a:spcPct val="75000"/>
              </a:lnSpc>
              <a:spcAft>
                <a:spcPts val="0"/>
              </a:spcAft>
              <a:defRPr sz="2400" b="1" cap="all" baseline="0">
                <a:solidFill>
                  <a:schemeClr val="accent5"/>
                </a:solidFill>
                <a:latin typeface="+mn-lt"/>
              </a:defRPr>
            </a:lvl2pPr>
            <a:lvl3pPr marL="0" indent="0">
              <a:lnSpc>
                <a:spcPct val="80000"/>
              </a:lnSpc>
              <a:spcAft>
                <a:spcPts val="0"/>
              </a:spcAft>
              <a:defRPr sz="1600" b="1" cap="all" baseline="0">
                <a:solidFill>
                  <a:schemeClr val="accent5"/>
                </a:solidFill>
                <a:latin typeface="+mn-lt"/>
              </a:defRPr>
            </a:lvl3pPr>
            <a:lvl4pPr marL="0" indent="0">
              <a:lnSpc>
                <a:spcPct val="80000"/>
              </a:lnSpc>
              <a:buNone/>
              <a:defRPr sz="1400" b="1" cap="all" baseline="0">
                <a:solidFill>
                  <a:schemeClr val="accent5"/>
                </a:solidFill>
                <a:latin typeface="+mn-lt"/>
              </a:defRPr>
            </a:lvl4pPr>
            <a:lvl5pPr marL="0" indent="0">
              <a:lnSpc>
                <a:spcPct val="90000"/>
              </a:lnSpc>
              <a:buNone/>
              <a:defRPr sz="1100" b="1" cap="all" baseline="0">
                <a:solidFill>
                  <a:schemeClr val="accent5"/>
                </a:solidFill>
                <a:latin typeface="+mn-lt"/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9052560" y="266700"/>
            <a:ext cx="2857501" cy="6438900"/>
          </a:xfrm>
        </p:spPr>
        <p:txBody>
          <a:bodyPr/>
          <a:lstStyle>
            <a:lvl1pPr marL="0" indent="0">
              <a:defRPr sz="2800" b="0">
                <a:solidFill>
                  <a:schemeClr val="accent6"/>
                </a:solidFill>
                <a:latin typeface="Arial Black" panose="020B0A04020102020204" pitchFamily="34" charset="0"/>
              </a:defRPr>
            </a:lvl1pPr>
            <a:lvl2pPr marL="0" indent="0">
              <a:lnSpc>
                <a:spcPct val="90000"/>
              </a:lnSpc>
              <a:spcAft>
                <a:spcPts val="0"/>
              </a:spcAft>
              <a:defRPr sz="2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0" indent="0">
              <a:lnSpc>
                <a:spcPct val="90000"/>
              </a:lnSpc>
              <a:spcBef>
                <a:spcPts val="1200"/>
              </a:spcBef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5pPr>
            <a:lvl6pPr marL="344479" indent="-173034">
              <a:buFont typeface="Graphik" panose="020B0503030202060203" pitchFamily="34" charset="0"/>
              <a:buChar char="–"/>
              <a:defRPr sz="1600">
                <a:solidFill>
                  <a:schemeClr val="bg1"/>
                </a:solidFill>
              </a:defRPr>
            </a:lvl6pPr>
            <a:lvl7pPr marL="0" indent="0">
              <a:defRPr sz="1400" b="1">
                <a:solidFill>
                  <a:schemeClr val="bg1"/>
                </a:solidFill>
                <a:latin typeface="+mj-lt"/>
              </a:defRPr>
            </a:lvl7pPr>
            <a:lvl8pPr marL="0" indent="0">
              <a:defRPr sz="1400" baseline="0">
                <a:solidFill>
                  <a:schemeClr val="bg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Aft>
                <a:spcPts val="800"/>
              </a:spcAft>
              <a:defRPr sz="140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4826035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 Option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C91AB612-3710-45D4-9355-B422D880C8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903537"/>
            <a:ext cx="11430000" cy="969963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algn="ctr">
              <a:lnSpc>
                <a:spcPct val="80000"/>
              </a:lnSpc>
              <a:defRPr sz="36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 dirty="0"/>
              <a:t>Insert title at 36pt, min 30pt</a:t>
            </a:r>
          </a:p>
        </p:txBody>
      </p:sp>
    </p:spTree>
    <p:extLst>
      <p:ext uri="{BB962C8B-B14F-4D97-AF65-F5344CB8AC3E}">
        <p14:creationId xmlns:p14="http://schemas.microsoft.com/office/powerpoint/2010/main" val="109684011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gradFill>
          <a:gsLst>
            <a:gs pos="0">
              <a:schemeClr val="bg1"/>
            </a:gs>
            <a:gs pos="100000">
              <a:schemeClr val="tx2">
                <a:lumMod val="20000"/>
                <a:lumOff val="80000"/>
              </a:schemeClr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011E2823-CB0F-9A43-803C-200179BD14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Text Placeholder 18">
            <a:extLst>
              <a:ext uri="{FF2B5EF4-FFF2-40B4-BE49-F238E27FC236}">
                <a16:creationId xmlns:a16="http://schemas.microsoft.com/office/drawing/2014/main" xmlns="" id="{1D4E0C7B-55AE-49FD-9698-9CEB8E6339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2" y="3631790"/>
            <a:ext cx="6554786" cy="330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000" b="0" cap="none" spc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  <a:p>
            <a:pPr lvl="0"/>
            <a:r>
              <a:rPr lang="en-US" dirty="0"/>
              <a:t>Presenter</a:t>
            </a:r>
          </a:p>
          <a:p>
            <a:pPr lvl="0"/>
            <a:r>
              <a:rPr lang="en-US" dirty="0"/>
              <a:t>Date</a:t>
            </a:r>
          </a:p>
          <a:p>
            <a:pPr lvl="0"/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xmlns="" id="{E70A76BC-3335-4057-8A64-8CA0E62108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55212"/>
            <a:ext cx="6554788" cy="290671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499065729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0" pos="6000">
          <p15:clr>
            <a:srgbClr val="FBAE40"/>
          </p15:clr>
        </p15:guide>
        <p15:guide id="1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F99954-45B0-41C9-94F2-2654CAD2E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B211B26-76E4-4113-B268-45CDF484F9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99956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Option 1">
    <p:bg>
      <p:bgPr>
        <a:solidFill>
          <a:schemeClr val="tx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BA67B93-5503-49C7-ADB5-EF3AECD1A8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9776" y="1597537"/>
            <a:ext cx="4395264" cy="3523001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7200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72" name="Text Placeholder 44">
            <a:extLst>
              <a:ext uri="{FF2B5EF4-FFF2-40B4-BE49-F238E27FC236}">
                <a16:creationId xmlns:a16="http://schemas.microsoft.com/office/drawing/2014/main" xmlns="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10716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xmlns="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24549" y="358356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xmlns="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38384" y="3588203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xmlns="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716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xmlns="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824549" y="1600631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xmlns="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238384" y="160527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xmlns="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02461" y="230446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bg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xmlns="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824549" y="228869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bg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xmlns="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238382" y="228685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bg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xmlns="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94206" y="428739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bg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xmlns="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816294" y="427162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bg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xmlns="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30127" y="426978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bg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19" name="Slide Number Placeholder 9">
            <a:extLst>
              <a:ext uri="{FF2B5EF4-FFF2-40B4-BE49-F238E27FC236}">
                <a16:creationId xmlns:a16="http://schemas.microsoft.com/office/drawing/2014/main" xmlns="" id="{627407F3-9874-4EC7-838E-33B8A5F96D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12986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bg>
      <p:bgPr>
        <a:solidFill>
          <a:schemeClr val="tx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85725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80975" indent="-180975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GB" dirty="0"/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xmlns="" id="{75CA6DF9-3D47-44A0-9AE6-EE81F577848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xmlns="" id="{F8D1DF11-64D7-450B-92C0-FFBB3964A6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 dirty="0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86190093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Layout">
    <p:bg>
      <p:bgPr>
        <a:solidFill>
          <a:schemeClr val="tx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GB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xmlns="" id="{4538F56B-ECAD-430D-86B3-CA43CA930B13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6411000" y="1945849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  <a:endParaRPr lang="en-GB" dirty="0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xmlns="" id="{31586DA7-028B-46B2-8DE5-CD490E3A728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xmlns="" id="{DCAD60B4-85E8-4266-A468-73C7C71B2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 dirty="0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6150530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xmlns="" id="{0FCF244E-2D87-4DAB-B529-36E1AA8CB99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xmlns="" id="{06D6E342-7CEB-4142-85CE-07746AED56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 dirty="0"/>
              <a:t>Insert Main Title at 36pt min 30pt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xmlns="" id="{1DBBD251-FD95-4A5E-9AAB-5656E1085BB7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81000" y="1364265"/>
            <a:ext cx="11430000" cy="4796823"/>
          </a:xfrm>
        </p:spPr>
        <p:txBody>
          <a:bodyPr>
            <a:normAutofit/>
          </a:bodyPr>
          <a:lstStyle>
            <a:lvl1pPr>
              <a:defRPr sz="1400" b="0">
                <a:latin typeface="+mn-lt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62825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Option 1">
    <p:bg>
      <p:bgPr>
        <a:solidFill>
          <a:schemeClr val="tx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1">
            <a:extLst>
              <a:ext uri="{FF2B5EF4-FFF2-40B4-BE49-F238E27FC236}">
                <a16:creationId xmlns:a16="http://schemas.microsoft.com/office/drawing/2014/main" xmlns="" id="{9DFDC4DC-01F9-4BD6-BF0E-69725B783A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 dirty="0"/>
              <a:t>Add description of the figure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xmlns="" id="{24432DF7-B547-40FF-A825-45A78D2CB8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0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xmlns="" id="{233FEC15-78F4-43A2-A63C-053354C1234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43456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xmlns="" id="{5EA5DC18-5421-48CE-8B85-A27A2B4A504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3456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xmlns="" id="{B0E58F9C-D684-471B-BFF1-044DDB7AB07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05912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xmlns="" id="{4FEA6FC0-ADA0-43DC-9D26-5E114F07372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05912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xmlns="" id="{8F8EE1D1-37AE-4F77-B057-69366C5878F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68368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xmlns="" id="{91797188-BDCB-4CC5-BCBE-30AD9A4C45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968368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xmlns="" id="{3A863DAF-BB89-4865-8063-7F6B6BAB45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xmlns="" id="{C770A387-6C5D-4E48-960C-8587FDB8AC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 dirty="0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287412526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Option 2">
    <p:bg>
      <p:bgPr>
        <a:solidFill>
          <a:schemeClr val="tx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11BE77C-A095-46CD-A1E6-D35129200CF4}"/>
              </a:ext>
            </a:extLst>
          </p:cNvPr>
          <p:cNvSpPr/>
          <p:nvPr userDrawn="1"/>
        </p:nvSpPr>
        <p:spPr>
          <a:xfrm>
            <a:off x="1" y="1928174"/>
            <a:ext cx="12191998" cy="44052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xmlns="" id="{812566C2-550C-428D-9F25-97BA6ACC6D8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802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 dirty="0"/>
              <a:t>Lorem ipsum dolor sit amet</a:t>
            </a:r>
            <a:endParaRPr lang="en-US" dirty="0"/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xmlns="" id="{50056D35-DC61-4D0F-B0C2-B062F0DD56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5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xmlns="" id="{4F54E055-BFC8-4967-AD47-F082AF139F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802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 dirty="0"/>
              <a:t>Lorem ipsum dolor sit amet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xmlns="" id="{17A9C8F1-2B45-4232-AB93-26450C4625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5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xmlns="" id="{D7F2FA40-8443-415A-BCEC-57907AD7C3D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802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xmlns="" id="{4DFB22B2-7DED-4F30-9EEB-FB3AE9BC74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45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xmlns="" id="{80618C3C-6BED-4F24-8BC3-0BA6574D0AA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317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xmlns="" id="{18039CC1-2EA8-4C41-979B-4D20FB6809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xmlns="" id="{5A1FF5E6-3D7C-4087-AFF1-48A99E04CE2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317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xmlns="" id="{BB2C9A29-68E9-4B62-8688-F3255D0DC6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xmlns="" id="{353E4163-5423-4488-93B4-72E261A04E0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317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xmlns="" id="{EC5DB573-F8E8-4DEA-AEA6-9E4D218638C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xmlns="" id="{829B10C9-5B15-4D0E-BE03-A02D6DD428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xmlns="" id="{A822CE51-5843-4191-8C13-33C5608805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 dirty="0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97616897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Option 3">
    <p:bg>
      <p:bgPr>
        <a:solidFill>
          <a:schemeClr val="tx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11BE77C-A095-46CD-A1E6-D35129200CF4}"/>
              </a:ext>
            </a:extLst>
          </p:cNvPr>
          <p:cNvSpPr/>
          <p:nvPr userDrawn="1"/>
        </p:nvSpPr>
        <p:spPr>
          <a:xfrm>
            <a:off x="1" y="1754996"/>
            <a:ext cx="12191998" cy="45784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xmlns="" id="{829B10C9-5B15-4D0E-BE03-A02D6DD428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xmlns="" id="{FFD4091F-4540-47D0-9D89-6BCB0291E5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 dirty="0"/>
              <a:t>Insert Main Title at 36pt min 30pt</a:t>
            </a:r>
          </a:p>
        </p:txBody>
      </p:sp>
      <p:sp>
        <p:nvSpPr>
          <p:cNvPr id="32" name="Text Placeholder 41">
            <a:extLst>
              <a:ext uri="{FF2B5EF4-FFF2-40B4-BE49-F238E27FC236}">
                <a16:creationId xmlns:a16="http://schemas.microsoft.com/office/drawing/2014/main" xmlns="" id="{53346DC2-FD7B-49C4-8AAB-B359175B7BF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1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 dirty="0"/>
              <a:t>Lorem ipsum dolor sit amet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xmlns="" id="{AC42A312-9979-4A01-9158-57CD4C8CA33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1000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 dirty="0"/>
              <a:t>Lorem ipsum dolor sit amet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xmlns="" id="{E6AD4056-7137-4DCF-A115-E508E36FD57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80999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 dirty="0"/>
              <a:t>Lorem ipsum dolor sit amet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xmlns="" id="{C209F1A0-3F27-4F19-87B3-B17D5D0FF7A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103436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 dirty="0"/>
              <a:t>Lorem ipsum dolor sit amet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xmlns="" id="{8FD5C041-A388-41EA-ABD7-248D2E8C55D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03435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 dirty="0"/>
              <a:t>Lorem ipsum dolor sit amet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xmlns="" id="{C81EE5FD-7567-45E7-B11B-1CDE922D19C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103434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 dirty="0"/>
              <a:t>Lorem ipsum dolor sit amet</a:t>
            </a: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83942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C91AB612-3710-45D4-9355-B422D880C8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903537"/>
            <a:ext cx="11430000" cy="969963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algn="ctr">
              <a:lnSpc>
                <a:spcPct val="80000"/>
              </a:lnSpc>
              <a:defRPr sz="36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 dirty="0"/>
              <a:t>Insert title at 36pt, min 30pt</a:t>
            </a:r>
          </a:p>
        </p:txBody>
      </p:sp>
    </p:spTree>
    <p:extLst>
      <p:ext uri="{BB962C8B-B14F-4D97-AF65-F5344CB8AC3E}">
        <p14:creationId xmlns:p14="http://schemas.microsoft.com/office/powerpoint/2010/main" val="358405647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copyrights">
    <p:bg>
      <p:bgPr>
        <a:solidFill>
          <a:schemeClr val="tx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xmlns="" id="{F848CCB8-4740-4B43-BCEF-5A546C1195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97259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1" y="1828802"/>
            <a:ext cx="85725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08853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hort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1000" y="380999"/>
            <a:ext cx="5715000" cy="9906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>
          <a:xfrm>
            <a:off x="6096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2029430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85725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80975" indent="-180975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GB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xmlns="" id="{F8D1DF11-64D7-450B-92C0-FFBB3964A6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xmlns="" id="{E56899A3-4265-C54B-AC86-2EEC9645621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</p:spPr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0327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Layout"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GB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xmlns="" id="{4538F56B-ECAD-430D-86B3-CA43CA930B13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6411000" y="1945849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GB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xmlns="" id="{DCAD60B4-85E8-4266-A468-73C7C71B2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xmlns="" id="{519F0672-2518-FE44-AE74-CF427C69C82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</p:spPr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11842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Option 1"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7DBD5025-1291-204A-9F9C-6B0B68057494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xmlns="" id="{9DFDC4DC-01F9-4BD6-BF0E-69725B783A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xmlns="" id="{24432DF7-B547-40FF-A825-45A78D2CB8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0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xmlns="" id="{233FEC15-78F4-43A2-A63C-053354C1234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43456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xmlns="" id="{5EA5DC18-5421-48CE-8B85-A27A2B4A504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3456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xmlns="" id="{B0E58F9C-D684-471B-BFF1-044DDB7AB07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05912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xmlns="" id="{4FEA6FC0-ADA0-43DC-9D26-5E114F07372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05912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xmlns="" id="{8F8EE1D1-37AE-4F77-B057-69366C5878F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68368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xmlns="" id="{91797188-BDCB-4CC5-BCBE-30AD9A4C45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968368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xmlns="" id="{C770A387-6C5D-4E48-960C-8587FDB8AC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27" name="Slide Number Placeholder 10">
            <a:extLst>
              <a:ext uri="{FF2B5EF4-FFF2-40B4-BE49-F238E27FC236}">
                <a16:creationId xmlns:a16="http://schemas.microsoft.com/office/drawing/2014/main" xmlns="" id="{738E82FA-135D-F644-87B4-9CD0D52A401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</p:spPr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3231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Option 2"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1">
            <a:extLst>
              <a:ext uri="{FF2B5EF4-FFF2-40B4-BE49-F238E27FC236}">
                <a16:creationId xmlns:a16="http://schemas.microsoft.com/office/drawing/2014/main" xmlns="" id="{812566C2-550C-428D-9F25-97BA6ACC6D8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802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en-US"/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xmlns="" id="{50056D35-DC61-4D0F-B0C2-B062F0DD56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5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xmlns="" id="{4F54E055-BFC8-4967-AD47-F082AF139F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802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xmlns="" id="{17A9C8F1-2B45-4232-AB93-26450C4625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5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xmlns="" id="{D7F2FA40-8443-415A-BCEC-57907AD7C3D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802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xmlns="" id="{4DFB22B2-7DED-4F30-9EEB-FB3AE9BC74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45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xmlns="" id="{80618C3C-6BED-4F24-8BC3-0BA6574D0AA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317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xmlns="" id="{18039CC1-2EA8-4C41-979B-4D20FB6809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xmlns="" id="{5A1FF5E6-3D7C-4087-AFF1-48A99E04CE2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317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xmlns="" id="{BB2C9A29-68E9-4B62-8688-F3255D0DC6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xmlns="" id="{353E4163-5423-4488-93B4-72E261A04E0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317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xmlns="" id="{EC5DB573-F8E8-4DEA-AEA6-9E4D218638C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xmlns="" id="{A822CE51-5843-4191-8C13-33C5608805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xmlns="" id="{31D79D0D-0268-7C4C-BFBB-9462EF6CAA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</p:spPr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93989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Option 3"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11BE77C-A095-46CD-A1E6-D35129200CF4}"/>
              </a:ext>
            </a:extLst>
          </p:cNvPr>
          <p:cNvSpPr/>
          <p:nvPr userDrawn="1"/>
        </p:nvSpPr>
        <p:spPr>
          <a:xfrm>
            <a:off x="1" y="1754996"/>
            <a:ext cx="12191998" cy="45784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xmlns="" id="{829B10C9-5B15-4D0E-BE03-A02D6DD428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xmlns="" id="{FFD4091F-4540-47D0-9D89-6BCB0291E5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2" name="Text Placeholder 41">
            <a:extLst>
              <a:ext uri="{FF2B5EF4-FFF2-40B4-BE49-F238E27FC236}">
                <a16:creationId xmlns:a16="http://schemas.microsoft.com/office/drawing/2014/main" xmlns="" id="{53346DC2-FD7B-49C4-8AAB-B359175B7BF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1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xmlns="" id="{AC42A312-9979-4A01-9158-57CD4C8CA33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1000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xmlns="" id="{E6AD4056-7137-4DCF-A115-E508E36FD57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80999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xmlns="" id="{C209F1A0-3F27-4F19-87B3-B17D5D0FF7A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103436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xmlns="" id="{8FD5C041-A388-41EA-ABD7-248D2E8C55D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03435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xmlns="" id="{C81EE5FD-7567-45E7-B11B-1CDE922D19C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103434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7336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C91AB612-3710-45D4-9355-B422D880C8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903537"/>
            <a:ext cx="11430000" cy="969963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algn="ctr">
              <a:lnSpc>
                <a:spcPct val="80000"/>
              </a:lnSpc>
              <a:defRPr sz="36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Insert title at 36pt, min 30pt</a:t>
            </a:r>
          </a:p>
        </p:txBody>
      </p:sp>
    </p:spTree>
    <p:extLst>
      <p:ext uri="{BB962C8B-B14F-4D97-AF65-F5344CB8AC3E}">
        <p14:creationId xmlns:p14="http://schemas.microsoft.com/office/powerpoint/2010/main" val="859555077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copyrights"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1">
            <a:extLst>
              <a:ext uri="{FF2B5EF4-FFF2-40B4-BE49-F238E27FC236}">
                <a16:creationId xmlns:a16="http://schemas.microsoft.com/office/drawing/2014/main" xmlns="" id="{2283F9DF-F557-3F4B-91E7-469BA5E6BE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</p:spPr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344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(bullet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xmlns="" id="{DA171160-C7F3-46DE-911A-73C4F50C8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15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42" r:id="rId54"/>
    <p:sldLayoutId id="2147483743" r:id="rId55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 dirty="0"/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xmlns="" id="{299A5035-44EB-4653-8F65-351427FC9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xmlns="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60817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38" r:id="rId13"/>
  </p:sldLayoutIdLst>
  <p:hf hd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/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xmlns="" id="{299A5035-44EB-4653-8F65-351427FC9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xmlns="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97149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</p:sldLayoutIdLst>
  <p:hf hd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3767DB7-9500-4E6E-9508-6A3D2318419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7480" y="5100802"/>
            <a:ext cx="9664437" cy="784378"/>
          </a:xfrm>
        </p:spPr>
        <p:txBody>
          <a:bodyPr/>
          <a:lstStyle/>
          <a:p>
            <a:r>
              <a:rPr lang="en-US" sz="1800" b="1" dirty="0" err="1" smtClean="0"/>
              <a:t>Intellipaat</a:t>
            </a:r>
            <a:endParaRPr lang="en-US" sz="1800" b="1" dirty="0" smtClean="0"/>
          </a:p>
          <a:p>
            <a:endParaRPr lang="en-US" sz="1800" b="1" dirty="0" smtClean="0"/>
          </a:p>
          <a:p>
            <a:r>
              <a:rPr lang="en-US" sz="1800" b="1" dirty="0" smtClean="0"/>
              <a:t>Executive-Post-Graduate-Certification-in-Data-Science-and-Artificial-Intelligence</a:t>
            </a:r>
          </a:p>
          <a:p>
            <a:endParaRPr lang="en-US" sz="1800" b="1" dirty="0"/>
          </a:p>
          <a:p>
            <a:r>
              <a:rPr lang="en-US" sz="1800" b="1" dirty="0" smtClean="0"/>
              <a:t>Date- Oct 2024</a:t>
            </a:r>
            <a:endParaRPr lang="en-US" sz="18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7C2E400C-159C-4B34-94FA-9CB332426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480" y="2114550"/>
            <a:ext cx="6862752" cy="2257425"/>
          </a:xfrm>
        </p:spPr>
        <p:txBody>
          <a:bodyPr anchor="ctr"/>
          <a:lstStyle/>
          <a:p>
            <a:r>
              <a:rPr lang="en-US" sz="4000" dirty="0" smtClean="0"/>
              <a:t>Capstone Project</a:t>
            </a:r>
            <a:br>
              <a:rPr lang="en-US" sz="4000" dirty="0" smtClean="0"/>
            </a:br>
            <a:r>
              <a:rPr lang="en-US" sz="4000" dirty="0"/>
              <a:t/>
            </a:r>
            <a:br>
              <a:rPr lang="en-US" sz="4000" dirty="0"/>
            </a:br>
            <a:r>
              <a:rPr lang="en-US" sz="4000" dirty="0" err="1" smtClean="0"/>
              <a:t>Walmart</a:t>
            </a:r>
            <a:r>
              <a:rPr lang="en-US" sz="4000" dirty="0" smtClean="0"/>
              <a:t> Weekly Sales</a:t>
            </a:r>
            <a:endParaRPr lang="en-US" sz="4000" dirty="0"/>
          </a:p>
        </p:txBody>
      </p:sp>
      <p:pic>
        <p:nvPicPr>
          <p:cNvPr id="3074" name="Picture 2" descr="Intellipaa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2541" y="5990970"/>
            <a:ext cx="2209252" cy="766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4" descr="Image result for walmart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7" descr="Image result for walmart 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571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333705" y="2900857"/>
            <a:ext cx="3267011" cy="810399"/>
          </a:xfrm>
        </p:spPr>
        <p:txBody>
          <a:bodyPr anchor="ctr"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3" name="Text Placeholder 3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Problem </a:t>
            </a:r>
            <a:r>
              <a:rPr lang="en-US" dirty="0" smtClean="0"/>
              <a:t>Statement</a:t>
            </a:r>
            <a:endParaRPr lang="en-US" dirty="0"/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Project Objective</a:t>
            </a:r>
          </a:p>
        </p:txBody>
      </p:sp>
      <p:sp>
        <p:nvSpPr>
          <p:cNvPr id="35" name="Text Placeholder 34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Data Description</a:t>
            </a:r>
          </a:p>
        </p:txBody>
      </p:sp>
      <p:sp>
        <p:nvSpPr>
          <p:cNvPr id="36" name="Text Placeholder 35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Data Pre-processing Steps </a:t>
            </a:r>
            <a:endParaRPr lang="en-US" dirty="0" smtClean="0"/>
          </a:p>
          <a:p>
            <a:r>
              <a:rPr lang="en-US" dirty="0" smtClean="0"/>
              <a:t>and </a:t>
            </a:r>
            <a:r>
              <a:rPr lang="en-US" dirty="0"/>
              <a:t>Inspiration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Choosing the Algorithm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the Project</a:t>
            </a:r>
          </a:p>
        </p:txBody>
      </p:sp>
      <p:sp>
        <p:nvSpPr>
          <p:cNvPr id="38" name="Text Placeholder 37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Motivation and Reasons </a:t>
            </a:r>
            <a:r>
              <a:rPr lang="en-US" dirty="0" smtClean="0"/>
              <a:t>For</a:t>
            </a:r>
          </a:p>
          <a:p>
            <a:r>
              <a:rPr lang="en-US" dirty="0" smtClean="0"/>
              <a:t>Choosing </a:t>
            </a:r>
            <a:r>
              <a:rPr lang="en-US" dirty="0"/>
              <a:t>the Algorithm</a:t>
            </a:r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 smtClean="0"/>
              <a:t>Assumptions</a:t>
            </a:r>
            <a:endParaRPr lang="en-US" dirty="0"/>
          </a:p>
        </p:txBody>
      </p:sp>
      <p:sp>
        <p:nvSpPr>
          <p:cNvPr id="40" name="Text Placeholder 39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Model Evaluation </a:t>
            </a:r>
            <a:r>
              <a:rPr lang="en-US" dirty="0" smtClean="0"/>
              <a:t>and</a:t>
            </a:r>
          </a:p>
          <a:p>
            <a:r>
              <a:rPr lang="en-US" dirty="0" smtClean="0"/>
              <a:t>Techniques</a:t>
            </a:r>
            <a:endParaRPr lang="en-US" dirty="0"/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2" name="Text Placeholder 41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3" name="Text Placeholder 4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45" name="Text Placeholder 44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47" name="Text Placeholder 46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48" name="Text Placeholder 47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49" name="Text Placeholder 48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US" dirty="0"/>
              <a:t>Inferences from the Same</a:t>
            </a:r>
          </a:p>
        </p:txBody>
      </p:sp>
      <p:sp>
        <p:nvSpPr>
          <p:cNvPr id="50" name="Text Placeholder 49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 dirty="0"/>
              <a:t>Future Possibilities of </a:t>
            </a:r>
            <a:r>
              <a:rPr lang="en-US" dirty="0" smtClean="0"/>
              <a:t>the</a:t>
            </a:r>
          </a:p>
          <a:p>
            <a:r>
              <a:rPr lang="en-US" dirty="0" smtClean="0"/>
              <a:t>Project</a:t>
            </a:r>
            <a:endParaRPr lang="en-US" dirty="0"/>
          </a:p>
        </p:txBody>
      </p:sp>
      <p:sp>
        <p:nvSpPr>
          <p:cNvPr id="51" name="Text Placeholder 50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57" name="Text Placeholder 56"/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58" name="Text Placeholder 57"/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59" name="Text Placeholder 58"/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rPr lang="en-US" dirty="0" smtClean="0"/>
              <a:t>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657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37"/>
          <p:cNvSpPr>
            <a:spLocks noGrp="1"/>
          </p:cNvSpPr>
          <p:nvPr>
            <p:ph type="body" sz="quarter" idx="10"/>
          </p:nvPr>
        </p:nvSpPr>
        <p:spPr>
          <a:xfrm>
            <a:off x="381000" y="1893832"/>
            <a:ext cx="7990490" cy="4333548"/>
          </a:xfrm>
        </p:spPr>
        <p:txBody>
          <a:bodyPr>
            <a:normAutofit/>
          </a:bodyPr>
          <a:lstStyle/>
          <a:p>
            <a:r>
              <a:rPr lang="en-US" sz="2000" b="0" dirty="0" err="1"/>
              <a:t>Walmart</a:t>
            </a:r>
            <a:r>
              <a:rPr lang="en-US" sz="2000" b="0" dirty="0"/>
              <a:t> is an American </a:t>
            </a:r>
            <a:r>
              <a:rPr lang="en-US" sz="2000" b="0" dirty="0">
                <a:latin typeface="+mn-lt"/>
              </a:rPr>
              <a:t>multinational</a:t>
            </a:r>
            <a:r>
              <a:rPr lang="en-US" sz="2000" b="0" dirty="0"/>
              <a:t> retail corporation that operates a chain of hypermarkets, discount department stores, and grocery stores in the United </a:t>
            </a:r>
            <a:r>
              <a:rPr lang="en-US" sz="2000" b="0" dirty="0" smtClean="0"/>
              <a:t>States.</a:t>
            </a:r>
          </a:p>
          <a:p>
            <a:r>
              <a:rPr lang="en-US" sz="2000" b="0" dirty="0" smtClean="0"/>
              <a:t>It has </a:t>
            </a:r>
            <a:r>
              <a:rPr lang="en-US" sz="2000" b="0" dirty="0"/>
              <a:t>been facing issues in managing </a:t>
            </a:r>
            <a:r>
              <a:rPr lang="en-US" sz="2000" b="0" dirty="0" smtClean="0"/>
              <a:t>inventory </a:t>
            </a:r>
            <a:r>
              <a:rPr lang="en-US" sz="2000" b="0" dirty="0"/>
              <a:t>- to match the demand with respect to </a:t>
            </a:r>
            <a:r>
              <a:rPr lang="en-US" sz="2000" b="0" dirty="0" smtClean="0"/>
              <a:t>supply.</a:t>
            </a:r>
          </a:p>
          <a:p>
            <a:r>
              <a:rPr lang="en-US" sz="2000" b="0" dirty="0" smtClean="0"/>
              <a:t>It has </a:t>
            </a:r>
            <a:r>
              <a:rPr lang="en-US" sz="2000" b="0" dirty="0"/>
              <a:t>requested Intellipaat to come up with useful insights using their data and make prediction models to forecast the sales for 12 to 16 weeks</a:t>
            </a:r>
            <a:r>
              <a:rPr lang="en-US" sz="2000" b="0" dirty="0" smtClean="0"/>
              <a:t>.</a:t>
            </a:r>
          </a:p>
          <a:p>
            <a:r>
              <a:rPr lang="en-US" sz="2000" b="0" dirty="0" smtClean="0"/>
              <a:t>It has provided last 3 years weekly sales data containing 6435 rows and 8 columns to enable data prediction.</a:t>
            </a:r>
            <a:endParaRPr lang="en-US" sz="2000" b="0" dirty="0"/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7" name="Title 3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Problem Statement</a:t>
            </a:r>
            <a:endParaRPr lang="en-US" dirty="0"/>
          </a:p>
        </p:txBody>
      </p:sp>
      <p:sp>
        <p:nvSpPr>
          <p:cNvPr id="39" name="AutoShape 2" descr="Image result for walmart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8846755" y="1862299"/>
            <a:ext cx="2898558" cy="4174036"/>
            <a:chOff x="8783691" y="1893831"/>
            <a:chExt cx="2898558" cy="4174036"/>
          </a:xfrm>
        </p:grpSpPr>
        <p:pic>
          <p:nvPicPr>
            <p:cNvPr id="4101" name="Picture 5" descr="Walmart Shopping Cart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83691" y="3332589"/>
              <a:ext cx="2898558" cy="27352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83693" y="1893831"/>
              <a:ext cx="2898556" cy="1566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7600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Objective</a:t>
            </a:r>
            <a:endParaRPr lang="en-US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071950117"/>
              </p:ext>
            </p:extLst>
          </p:nvPr>
        </p:nvGraphicFramePr>
        <p:xfrm>
          <a:off x="299545" y="1145335"/>
          <a:ext cx="1156138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8004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Pre Processing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11806238" y="6518275"/>
            <a:ext cx="385762" cy="206375"/>
          </a:xfrm>
        </p:spPr>
        <p:txBody>
          <a:bodyPr/>
          <a:lstStyle/>
          <a:p>
            <a:fld id="{4F9AC08D-23A9-440E-BCB9-AA1E9877CC3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73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/>
              <a:t>Pre- processing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1800" b="1" dirty="0" smtClean="0"/>
              <a:t>Dataset Overview</a:t>
            </a:r>
            <a:r>
              <a:rPr lang="en-US" sz="1800" dirty="0" smtClean="0"/>
              <a:t>:</a:t>
            </a:r>
          </a:p>
          <a:p>
            <a:pPr lvl="2"/>
            <a:r>
              <a:rPr lang="en-US" sz="1800" b="1" dirty="0" smtClean="0"/>
              <a:t>6435</a:t>
            </a:r>
            <a:r>
              <a:rPr lang="en-US" sz="1800" dirty="0" smtClean="0"/>
              <a:t> rows</a:t>
            </a:r>
          </a:p>
          <a:p>
            <a:pPr lvl="2"/>
            <a:r>
              <a:rPr lang="en-US" sz="1800" b="1" dirty="0" smtClean="0"/>
              <a:t>8</a:t>
            </a:r>
            <a:r>
              <a:rPr lang="en-US" sz="1800" dirty="0" smtClean="0"/>
              <a:t> columns</a:t>
            </a:r>
          </a:p>
          <a:p>
            <a:r>
              <a:rPr lang="en-US" sz="1800" b="1" dirty="0" smtClean="0"/>
              <a:t>Data Types</a:t>
            </a:r>
            <a:r>
              <a:rPr lang="en-US" sz="1800" dirty="0" smtClean="0"/>
              <a:t>:</a:t>
            </a:r>
          </a:p>
          <a:p>
            <a:pPr lvl="2"/>
            <a:r>
              <a:rPr lang="en-US" sz="1800" b="1" dirty="0"/>
              <a:t>Store-</a:t>
            </a:r>
            <a:r>
              <a:rPr lang="en-US" sz="1800" dirty="0"/>
              <a:t> </a:t>
            </a:r>
            <a:r>
              <a:rPr lang="en-US" sz="1800" dirty="0" smtClean="0"/>
              <a:t>Store number [</a:t>
            </a:r>
            <a:r>
              <a:rPr lang="en-US" sz="1800" b="1" dirty="0"/>
              <a:t>int64</a:t>
            </a:r>
            <a:r>
              <a:rPr lang="en-US" sz="1800" dirty="0"/>
              <a:t> </a:t>
            </a:r>
            <a:r>
              <a:rPr lang="en-US" sz="1800" dirty="0" smtClean="0"/>
              <a:t>]</a:t>
            </a:r>
            <a:endParaRPr lang="en-US" sz="1800" dirty="0"/>
          </a:p>
          <a:p>
            <a:pPr lvl="2"/>
            <a:r>
              <a:rPr lang="en-US" sz="1800" b="1" dirty="0"/>
              <a:t>Date-</a:t>
            </a:r>
            <a:r>
              <a:rPr lang="en-US" sz="1800" dirty="0"/>
              <a:t> </a:t>
            </a:r>
            <a:r>
              <a:rPr lang="en-US" sz="1800" dirty="0" smtClean="0"/>
              <a:t>Week </a:t>
            </a:r>
            <a:r>
              <a:rPr lang="en-US" sz="1800" dirty="0"/>
              <a:t>of </a:t>
            </a:r>
            <a:r>
              <a:rPr lang="en-US" sz="1800" dirty="0" smtClean="0"/>
              <a:t>Sales [</a:t>
            </a:r>
            <a:r>
              <a:rPr lang="en-US" sz="1800" b="1" dirty="0"/>
              <a:t>object </a:t>
            </a:r>
          </a:p>
          <a:p>
            <a:pPr lvl="2"/>
            <a:r>
              <a:rPr lang="en-US" sz="1800" b="1" dirty="0" err="1"/>
              <a:t>Weekly_Sales</a:t>
            </a:r>
            <a:r>
              <a:rPr lang="en-US" sz="1800" b="1" dirty="0"/>
              <a:t>-</a:t>
            </a:r>
            <a:r>
              <a:rPr lang="en-US" sz="1800" dirty="0"/>
              <a:t> </a:t>
            </a:r>
            <a:r>
              <a:rPr lang="en-US" sz="1800" dirty="0" smtClean="0"/>
              <a:t> Sales </a:t>
            </a:r>
            <a:r>
              <a:rPr lang="en-US" sz="1800" dirty="0"/>
              <a:t>for the given store in that </a:t>
            </a:r>
            <a:r>
              <a:rPr lang="en-US" sz="1800" dirty="0" smtClean="0"/>
              <a:t>week [</a:t>
            </a:r>
            <a:r>
              <a:rPr lang="en-US" sz="1800" b="1" dirty="0" smtClean="0"/>
              <a:t>float64</a:t>
            </a:r>
            <a:r>
              <a:rPr lang="en-US" sz="1800" dirty="0" smtClean="0"/>
              <a:t>]</a:t>
            </a:r>
            <a:endParaRPr lang="en-US" sz="1800" dirty="0"/>
          </a:p>
          <a:p>
            <a:pPr lvl="2"/>
            <a:r>
              <a:rPr lang="en-US" sz="1800" b="1" dirty="0" err="1"/>
              <a:t>Holiday_Flag</a:t>
            </a:r>
            <a:r>
              <a:rPr lang="en-US" sz="1800" b="1" dirty="0"/>
              <a:t>-</a:t>
            </a:r>
            <a:r>
              <a:rPr lang="en-US" sz="1800" dirty="0"/>
              <a:t> </a:t>
            </a:r>
            <a:r>
              <a:rPr lang="en-US" sz="1800" dirty="0" smtClean="0"/>
              <a:t>if </a:t>
            </a:r>
            <a:r>
              <a:rPr lang="en-US" sz="1800" dirty="0"/>
              <a:t>it is a holiday </a:t>
            </a:r>
            <a:r>
              <a:rPr lang="en-US" sz="1800" dirty="0" smtClean="0"/>
              <a:t>week [</a:t>
            </a:r>
            <a:r>
              <a:rPr lang="en-US" sz="1800" b="1" dirty="0" smtClean="0"/>
              <a:t>int64</a:t>
            </a:r>
            <a:r>
              <a:rPr lang="en-US" sz="1800" dirty="0" smtClean="0"/>
              <a:t>]</a:t>
            </a:r>
            <a:endParaRPr lang="en-US" sz="1800" dirty="0"/>
          </a:p>
          <a:p>
            <a:pPr lvl="2"/>
            <a:r>
              <a:rPr lang="en-US" sz="1800" b="1" dirty="0" smtClean="0"/>
              <a:t>Temperature-</a:t>
            </a:r>
            <a:r>
              <a:rPr lang="en-US" sz="1800" dirty="0" smtClean="0"/>
              <a:t> Temperature </a:t>
            </a:r>
            <a:r>
              <a:rPr lang="en-US" sz="1800" dirty="0"/>
              <a:t>on the day of the </a:t>
            </a:r>
            <a:r>
              <a:rPr lang="en-US" sz="1800" dirty="0" smtClean="0"/>
              <a:t>sale [</a:t>
            </a:r>
            <a:r>
              <a:rPr lang="en-US" sz="1800" b="1" dirty="0" smtClean="0"/>
              <a:t>float64</a:t>
            </a:r>
            <a:r>
              <a:rPr lang="en-US" sz="1800" dirty="0" smtClean="0"/>
              <a:t>]</a:t>
            </a:r>
            <a:endParaRPr lang="en-US" sz="1800" dirty="0"/>
          </a:p>
          <a:p>
            <a:pPr lvl="2"/>
            <a:r>
              <a:rPr lang="en-US" sz="1800" b="1" dirty="0" err="1" smtClean="0"/>
              <a:t>Fuel_Price</a:t>
            </a:r>
            <a:r>
              <a:rPr lang="en-US" sz="1800" b="1" dirty="0" smtClean="0"/>
              <a:t>-</a:t>
            </a:r>
            <a:r>
              <a:rPr lang="en-US" sz="1800" dirty="0" smtClean="0"/>
              <a:t>  Cost </a:t>
            </a:r>
            <a:r>
              <a:rPr lang="en-US" sz="1800" dirty="0"/>
              <a:t>of the fuel in the region </a:t>
            </a:r>
            <a:r>
              <a:rPr lang="en-US" sz="1800" dirty="0" smtClean="0"/>
              <a:t>[</a:t>
            </a:r>
            <a:r>
              <a:rPr lang="en-US" sz="1800" b="1" dirty="0" smtClean="0"/>
              <a:t>float64</a:t>
            </a:r>
            <a:r>
              <a:rPr lang="en-US" sz="1800" dirty="0" smtClean="0"/>
              <a:t>]</a:t>
            </a:r>
            <a:endParaRPr lang="en-US" sz="1800" dirty="0"/>
          </a:p>
          <a:p>
            <a:pPr lvl="2"/>
            <a:r>
              <a:rPr lang="en-US" sz="1800" b="1" dirty="0"/>
              <a:t>CPI-</a:t>
            </a:r>
            <a:r>
              <a:rPr lang="en-US" sz="1800" dirty="0"/>
              <a:t> </a:t>
            </a:r>
            <a:r>
              <a:rPr lang="en-US" sz="1800" dirty="0" smtClean="0"/>
              <a:t>Consumer </a:t>
            </a:r>
            <a:r>
              <a:rPr lang="en-US" sz="1800" dirty="0"/>
              <a:t>Price </a:t>
            </a:r>
            <a:r>
              <a:rPr lang="en-US" sz="1800" dirty="0" smtClean="0"/>
              <a:t>Index [</a:t>
            </a:r>
            <a:r>
              <a:rPr lang="en-US" sz="1800" b="1" dirty="0" smtClean="0"/>
              <a:t>float64</a:t>
            </a:r>
            <a:r>
              <a:rPr lang="en-US" sz="1800" dirty="0" smtClean="0"/>
              <a:t>]</a:t>
            </a:r>
            <a:endParaRPr lang="en-US" sz="1800" dirty="0"/>
          </a:p>
          <a:p>
            <a:pPr lvl="2"/>
            <a:r>
              <a:rPr lang="en-US" sz="1800" b="1" dirty="0"/>
              <a:t>Unemployment-</a:t>
            </a:r>
            <a:r>
              <a:rPr lang="en-US" sz="1800" dirty="0"/>
              <a:t> </a:t>
            </a:r>
            <a:r>
              <a:rPr lang="en-US" sz="1800" dirty="0" smtClean="0"/>
              <a:t>Unemployment </a:t>
            </a:r>
            <a:r>
              <a:rPr lang="en-US" sz="1800" b="1" dirty="0" smtClean="0"/>
              <a:t>Rate[float64</a:t>
            </a:r>
            <a:r>
              <a:rPr lang="en-US" sz="1800" dirty="0" smtClean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056873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/>
              <a:t>Pre- processing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1800" b="1" dirty="0" smtClean="0"/>
              <a:t>Null and Duplicates:</a:t>
            </a:r>
          </a:p>
          <a:p>
            <a:pPr lvl="2"/>
            <a:r>
              <a:rPr lang="en-US" sz="1800" dirty="0" smtClean="0"/>
              <a:t>There are </a:t>
            </a:r>
            <a:r>
              <a:rPr lang="en-US" sz="1800" b="1" dirty="0" smtClean="0"/>
              <a:t>No Null nor Duplicate </a:t>
            </a:r>
            <a:r>
              <a:rPr lang="en-US" sz="1800" dirty="0" smtClean="0"/>
              <a:t>values in the Dataset</a:t>
            </a:r>
          </a:p>
          <a:p>
            <a:r>
              <a:rPr lang="en-US" sz="1800" b="1" dirty="0" smtClean="0"/>
              <a:t>Number of Unique values:</a:t>
            </a:r>
          </a:p>
          <a:p>
            <a:pPr lvl="2"/>
            <a:r>
              <a:rPr lang="en-US" sz="1800" dirty="0"/>
              <a:t>Store 45 </a:t>
            </a:r>
            <a:endParaRPr lang="en-US" sz="1800" dirty="0" smtClean="0"/>
          </a:p>
          <a:p>
            <a:pPr lvl="2"/>
            <a:r>
              <a:rPr lang="en-US" sz="1800" dirty="0" smtClean="0"/>
              <a:t>Date </a:t>
            </a:r>
            <a:r>
              <a:rPr lang="en-US" sz="1800" dirty="0"/>
              <a:t>143 </a:t>
            </a:r>
            <a:endParaRPr lang="en-US" sz="1800" dirty="0" smtClean="0"/>
          </a:p>
          <a:p>
            <a:pPr lvl="2"/>
            <a:r>
              <a:rPr lang="en-US" sz="1800" dirty="0" err="1" smtClean="0"/>
              <a:t>Weekly_Sales</a:t>
            </a:r>
            <a:r>
              <a:rPr lang="en-US" sz="1800" dirty="0" smtClean="0"/>
              <a:t> </a:t>
            </a:r>
            <a:r>
              <a:rPr lang="en-US" sz="1800" dirty="0"/>
              <a:t>6435 </a:t>
            </a:r>
            <a:endParaRPr lang="en-US" sz="1800" dirty="0" smtClean="0"/>
          </a:p>
          <a:p>
            <a:pPr lvl="2"/>
            <a:r>
              <a:rPr lang="en-US" sz="1800" dirty="0" err="1" smtClean="0"/>
              <a:t>Holiday_Flag</a:t>
            </a:r>
            <a:r>
              <a:rPr lang="en-US" sz="1800" dirty="0" smtClean="0"/>
              <a:t> </a:t>
            </a:r>
            <a:r>
              <a:rPr lang="en-US" sz="1800" dirty="0"/>
              <a:t>2 </a:t>
            </a:r>
            <a:endParaRPr lang="en-US" sz="1800" dirty="0" smtClean="0"/>
          </a:p>
          <a:p>
            <a:pPr lvl="2"/>
            <a:r>
              <a:rPr lang="en-US" sz="1800" dirty="0" smtClean="0"/>
              <a:t>Temperature </a:t>
            </a:r>
            <a:r>
              <a:rPr lang="en-US" sz="1800" dirty="0"/>
              <a:t>3528 </a:t>
            </a:r>
            <a:endParaRPr lang="en-US" sz="1800" dirty="0" smtClean="0"/>
          </a:p>
          <a:p>
            <a:pPr lvl="2"/>
            <a:r>
              <a:rPr lang="en-US" sz="1800" dirty="0" err="1" smtClean="0"/>
              <a:t>Fuel_Price</a:t>
            </a:r>
            <a:r>
              <a:rPr lang="en-US" sz="1800" dirty="0" smtClean="0"/>
              <a:t> </a:t>
            </a:r>
            <a:r>
              <a:rPr lang="en-US" sz="1800" dirty="0"/>
              <a:t>892 </a:t>
            </a:r>
            <a:endParaRPr lang="en-US" sz="1800" dirty="0" smtClean="0"/>
          </a:p>
          <a:p>
            <a:pPr lvl="2"/>
            <a:r>
              <a:rPr lang="en-US" sz="1800" dirty="0" smtClean="0"/>
              <a:t>CPI </a:t>
            </a:r>
            <a:r>
              <a:rPr lang="en-US" sz="1800" dirty="0"/>
              <a:t>2145 </a:t>
            </a:r>
            <a:endParaRPr lang="en-US" sz="1800" dirty="0" smtClean="0"/>
          </a:p>
          <a:p>
            <a:pPr lvl="2"/>
            <a:r>
              <a:rPr lang="en-US" sz="1800" dirty="0" smtClean="0"/>
              <a:t>Unemployment </a:t>
            </a:r>
            <a:r>
              <a:rPr lang="en-US" sz="1800" dirty="0"/>
              <a:t>349</a:t>
            </a:r>
            <a:endParaRPr lang="en-US" sz="1800" dirty="0" smtClean="0"/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81505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Insights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864975" y="6489700"/>
            <a:ext cx="327025" cy="201613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183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/>
              <a:t>Insights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1800" dirty="0"/>
              <a:t>Store number 14 was found to have max sales= USD 3818686.45 in the week ending 24 Dec </a:t>
            </a:r>
            <a:r>
              <a:rPr lang="en-US" sz="1800" dirty="0" smtClean="0"/>
              <a:t>2010</a:t>
            </a:r>
          </a:p>
          <a:p>
            <a:r>
              <a:rPr lang="en-US" sz="1800" dirty="0" smtClean="0"/>
              <a:t>Top 5 stores for Sales are - 14, 20,10, 4, 13</a:t>
            </a:r>
          </a:p>
          <a:p>
            <a:endParaRPr lang="en-US" sz="1800" dirty="0" smtClean="0"/>
          </a:p>
          <a:p>
            <a:r>
              <a:rPr lang="en-US" sz="1800" dirty="0"/>
              <a:t>Store number </a:t>
            </a:r>
            <a:r>
              <a:rPr lang="en-US" sz="1800" dirty="0" smtClean="0"/>
              <a:t>33 </a:t>
            </a:r>
            <a:r>
              <a:rPr lang="en-US" sz="1800" dirty="0"/>
              <a:t>was found to have max sales= USD </a:t>
            </a:r>
            <a:r>
              <a:rPr lang="en-US" sz="1800" dirty="0" smtClean="0"/>
              <a:t>209986.25 in </a:t>
            </a:r>
            <a:r>
              <a:rPr lang="en-US" sz="1800" dirty="0"/>
              <a:t>the week ending </a:t>
            </a:r>
            <a:r>
              <a:rPr lang="en-US" sz="1800" dirty="0" smtClean="0"/>
              <a:t>3 </a:t>
            </a:r>
            <a:r>
              <a:rPr lang="en-US" sz="1800" dirty="0"/>
              <a:t>Dec 2010</a:t>
            </a:r>
          </a:p>
          <a:p>
            <a:r>
              <a:rPr lang="en-US" sz="1800" dirty="0" smtClean="0"/>
              <a:t>Bottom </a:t>
            </a:r>
            <a:r>
              <a:rPr lang="en-US" sz="1800" dirty="0"/>
              <a:t>5 stores for Sales are </a:t>
            </a:r>
            <a:r>
              <a:rPr lang="en-US" sz="1800" dirty="0" smtClean="0"/>
              <a:t>– 33, 33, 33, 33, 33 [Interestingly all the 5 the bottom slot was taken by Store 33]</a:t>
            </a:r>
          </a:p>
          <a:p>
            <a:endParaRPr lang="en-US" sz="1800" dirty="0"/>
          </a:p>
          <a:p>
            <a:r>
              <a:rPr lang="en-US" sz="1800" dirty="0" smtClean="0"/>
              <a:t>Difference </a:t>
            </a:r>
            <a:r>
              <a:rPr lang="en-US" sz="1800" dirty="0"/>
              <a:t>between </a:t>
            </a:r>
            <a:r>
              <a:rPr lang="en-US" sz="1800" dirty="0" err="1"/>
              <a:t>maxium</a:t>
            </a:r>
            <a:r>
              <a:rPr lang="en-US" sz="1800" dirty="0"/>
              <a:t> sales and minimum sales- USD </a:t>
            </a:r>
            <a:r>
              <a:rPr lang="en-US" sz="1800" dirty="0" smtClean="0"/>
              <a:t>3608700</a:t>
            </a:r>
          </a:p>
          <a:p>
            <a:r>
              <a:rPr lang="en-US" sz="1800" dirty="0" smtClean="0"/>
              <a:t>Weeks </a:t>
            </a:r>
            <a:r>
              <a:rPr lang="en-US" sz="1800" dirty="0"/>
              <a:t>for max sales across all the stores combined by Total </a:t>
            </a:r>
            <a:r>
              <a:rPr lang="en-US" sz="1800" dirty="0" smtClean="0"/>
              <a:t>Sales were</a:t>
            </a:r>
          </a:p>
          <a:p>
            <a:pPr lvl="2"/>
            <a:r>
              <a:rPr lang="en-US" sz="1400" b="1" dirty="0" smtClean="0"/>
              <a:t>24 Dec 2020</a:t>
            </a:r>
          </a:p>
          <a:p>
            <a:pPr lvl="2"/>
            <a:r>
              <a:rPr lang="en-US" sz="1400" b="1" dirty="0" smtClean="0"/>
              <a:t>23 Dec 2011</a:t>
            </a:r>
          </a:p>
          <a:p>
            <a:pPr lvl="2"/>
            <a:r>
              <a:rPr lang="en-US" sz="1400" b="1" dirty="0" smtClean="0"/>
              <a:t>25 Nov 2011</a:t>
            </a:r>
          </a:p>
          <a:p>
            <a:pPr lvl="2"/>
            <a:r>
              <a:rPr lang="en-US" sz="1400" b="1" dirty="0" smtClean="0"/>
              <a:t>26 Nov 2010</a:t>
            </a:r>
          </a:p>
          <a:p>
            <a:pPr lvl="2"/>
            <a:r>
              <a:rPr lang="en-US" sz="1400" b="1" dirty="0" smtClean="0"/>
              <a:t>17 Dec 2010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767333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/>
              <a:t>Insights- Sales </a:t>
            </a:r>
            <a:r>
              <a:rPr lang="en-US" dirty="0"/>
              <a:t>by Store </a:t>
            </a:r>
            <a:r>
              <a:rPr lang="en-US" dirty="0" smtClean="0"/>
              <a:t>Number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AutoShape 2" descr="No description has been provided for this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099" name="Picture 3"/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94" y="1103586"/>
            <a:ext cx="11663412" cy="5476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8976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Features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864975" y="6489700"/>
            <a:ext cx="327025" cy="201613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668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/>
              <a:t>Features- Heat Map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AutoShape 2" descr="No description has been provided for this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2" descr="No description has been provided for this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171" name="Picture 3"/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953989"/>
            <a:ext cx="5950220" cy="4494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779172" y="1954924"/>
            <a:ext cx="5044966" cy="45089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600" b="1" dirty="0" smtClean="0"/>
              <a:t>Correlation of </a:t>
            </a:r>
            <a:r>
              <a:rPr lang="en-US" sz="1600" b="1" dirty="0" err="1" smtClean="0"/>
              <a:t>Weekly_Sales</a:t>
            </a:r>
            <a:r>
              <a:rPr lang="en-US" sz="1600" b="1" dirty="0" smtClean="0"/>
              <a:t> with</a:t>
            </a:r>
          </a:p>
          <a:p>
            <a:pPr marL="342900" indent="-342900" algn="l" defTabSz="228600">
              <a:spcAft>
                <a:spcPts val="1200"/>
              </a:spcAft>
              <a:buAutoNum type="arabicPeriod"/>
            </a:pPr>
            <a:r>
              <a:rPr lang="en-US" sz="1600" dirty="0" smtClean="0"/>
              <a:t>Holiday Flag: </a:t>
            </a:r>
          </a:p>
          <a:p>
            <a:pPr marL="800100" lvl="1" indent="-342900" defTabSz="2286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600" dirty="0" smtClean="0"/>
              <a:t>0.037 (low +</a:t>
            </a:r>
            <a:r>
              <a:rPr lang="en-US" sz="1600" dirty="0" err="1" smtClean="0"/>
              <a:t>ve</a:t>
            </a:r>
            <a:r>
              <a:rPr lang="en-US" sz="1600" dirty="0" smtClean="0"/>
              <a:t> correlation)</a:t>
            </a:r>
          </a:p>
          <a:p>
            <a:pPr marL="342900" indent="-342900" algn="l" defTabSz="228600">
              <a:spcAft>
                <a:spcPts val="1200"/>
              </a:spcAft>
              <a:buAutoNum type="arabicPeriod"/>
            </a:pPr>
            <a:r>
              <a:rPr lang="en-US" sz="1600" noProof="0" dirty="0" smtClean="0"/>
              <a:t>Temperature:</a:t>
            </a:r>
          </a:p>
          <a:p>
            <a:pPr marL="800100" lvl="1" indent="-342900" defTabSz="2286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600" noProof="0" dirty="0" smtClean="0"/>
              <a:t>-0.064 </a:t>
            </a:r>
            <a:r>
              <a:rPr lang="en-US" sz="1600" dirty="0" smtClean="0"/>
              <a:t>(low -</a:t>
            </a:r>
            <a:r>
              <a:rPr lang="en-US" sz="1600" dirty="0" err="1" smtClean="0"/>
              <a:t>ve</a:t>
            </a:r>
            <a:r>
              <a:rPr lang="en-US" sz="1600" dirty="0" smtClean="0"/>
              <a:t> </a:t>
            </a:r>
            <a:r>
              <a:rPr lang="en-US" sz="1600" dirty="0"/>
              <a:t>correlation</a:t>
            </a:r>
            <a:r>
              <a:rPr lang="en-US" sz="1600" dirty="0" smtClean="0"/>
              <a:t>)</a:t>
            </a:r>
            <a:endParaRPr lang="en-US" sz="1600" noProof="0" dirty="0" smtClean="0"/>
          </a:p>
          <a:p>
            <a:pPr marL="342900" indent="-342900" algn="l" defTabSz="228600">
              <a:spcAft>
                <a:spcPts val="1200"/>
              </a:spcAft>
              <a:buAutoNum type="arabicPeriod"/>
            </a:pPr>
            <a:r>
              <a:rPr lang="en-US" sz="1600" dirty="0" smtClean="0"/>
              <a:t>Fuel Price: </a:t>
            </a:r>
          </a:p>
          <a:p>
            <a:pPr marL="800100" lvl="1" indent="-342900" defTabSz="2286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600" dirty="0" smtClean="0"/>
              <a:t>0.0095 </a:t>
            </a:r>
            <a:r>
              <a:rPr lang="en-US" sz="1600" dirty="0"/>
              <a:t>(very low +</a:t>
            </a:r>
            <a:r>
              <a:rPr lang="en-US" sz="1600" dirty="0" err="1"/>
              <a:t>ve</a:t>
            </a:r>
            <a:r>
              <a:rPr lang="en-US" sz="1600" dirty="0"/>
              <a:t> correlation)</a:t>
            </a:r>
          </a:p>
          <a:p>
            <a:pPr marL="342900" indent="-342900" algn="l" defTabSz="228600">
              <a:spcAft>
                <a:spcPts val="1200"/>
              </a:spcAft>
              <a:buAutoNum type="arabicPeriod"/>
            </a:pPr>
            <a:r>
              <a:rPr lang="en-US" sz="1600" noProof="0" dirty="0" smtClean="0"/>
              <a:t>CPI: </a:t>
            </a:r>
          </a:p>
          <a:p>
            <a:pPr marL="800100" lvl="1" indent="-342900" defTabSz="2286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600" noProof="0" dirty="0" smtClean="0"/>
              <a:t>-0.073 </a:t>
            </a:r>
            <a:r>
              <a:rPr lang="en-US" sz="1600" dirty="0" smtClean="0"/>
              <a:t>(low -</a:t>
            </a:r>
            <a:r>
              <a:rPr lang="en-US" sz="1600" dirty="0" err="1" smtClean="0"/>
              <a:t>ve</a:t>
            </a:r>
            <a:r>
              <a:rPr lang="en-US" sz="1600" dirty="0" smtClean="0"/>
              <a:t> </a:t>
            </a:r>
            <a:r>
              <a:rPr lang="en-US" sz="1600" dirty="0"/>
              <a:t>correlation</a:t>
            </a:r>
            <a:r>
              <a:rPr lang="en-US" sz="1600" dirty="0" smtClean="0"/>
              <a:t>)</a:t>
            </a:r>
            <a:endParaRPr lang="en-US" sz="1600" noProof="0" dirty="0" smtClean="0"/>
          </a:p>
          <a:p>
            <a:pPr marL="342900" indent="-342900" algn="l" defTabSz="228600">
              <a:spcAft>
                <a:spcPts val="1200"/>
              </a:spcAft>
              <a:buAutoNum type="arabicPeriod"/>
            </a:pPr>
            <a:r>
              <a:rPr lang="en-US" sz="1600" dirty="0" smtClean="0"/>
              <a:t>Unemployment: </a:t>
            </a:r>
          </a:p>
          <a:p>
            <a:pPr marL="800100" lvl="1" indent="-342900" defTabSz="2286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600" dirty="0" smtClean="0"/>
              <a:t>-0.11 (low -</a:t>
            </a:r>
            <a:r>
              <a:rPr lang="en-US" sz="1600" dirty="0" err="1" smtClean="0"/>
              <a:t>ve</a:t>
            </a:r>
            <a:r>
              <a:rPr lang="en-US" sz="1600" dirty="0" smtClean="0"/>
              <a:t> </a:t>
            </a:r>
            <a:r>
              <a:rPr lang="en-US" sz="1600" dirty="0"/>
              <a:t>correlation</a:t>
            </a:r>
            <a:r>
              <a:rPr lang="en-US" sz="1600" dirty="0" smtClean="0"/>
              <a:t>)</a:t>
            </a:r>
            <a:endParaRPr lang="en-US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460375" y="1182416"/>
            <a:ext cx="8525970" cy="457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noProof="0" dirty="0" smtClean="0"/>
              <a:t>Insignificant +</a:t>
            </a:r>
            <a:r>
              <a:rPr lang="en-US" noProof="0" dirty="0" err="1" smtClean="0"/>
              <a:t>ve</a:t>
            </a:r>
            <a:r>
              <a:rPr lang="en-US" noProof="0" dirty="0" smtClean="0"/>
              <a:t> and –</a:t>
            </a:r>
            <a:r>
              <a:rPr lang="en-US" noProof="0" dirty="0" err="1" smtClean="0"/>
              <a:t>ve</a:t>
            </a:r>
            <a:r>
              <a:rPr lang="en-US" noProof="0" dirty="0" smtClean="0"/>
              <a:t> correlations found for external factors with Weekly Sales</a:t>
            </a:r>
          </a:p>
        </p:txBody>
      </p:sp>
    </p:spTree>
    <p:extLst>
      <p:ext uri="{BB962C8B-B14F-4D97-AF65-F5344CB8AC3E}">
        <p14:creationId xmlns:p14="http://schemas.microsoft.com/office/powerpoint/2010/main" val="3804578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/>
              <a:t>Features- Outliers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AutoShape 2" descr="No description has been provided for this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2" descr="No description has been provided for this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60375" y="1182416"/>
            <a:ext cx="8525970" cy="457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noProof="0" dirty="0" smtClean="0"/>
              <a:t>Outliers were found and removed from the following columns using the IQR Method</a:t>
            </a:r>
          </a:p>
          <a:p>
            <a:pPr marL="342900" indent="-342900" algn="l" defTabSz="228600">
              <a:spcAft>
                <a:spcPts val="1200"/>
              </a:spcAft>
              <a:buAutoNum type="arabicPeriod"/>
            </a:pPr>
            <a:r>
              <a:rPr lang="en-US" dirty="0" smtClean="0"/>
              <a:t>Weekly Sales</a:t>
            </a:r>
          </a:p>
          <a:p>
            <a:pPr marL="342900" indent="-342900" algn="l" defTabSz="228600">
              <a:spcAft>
                <a:spcPts val="1200"/>
              </a:spcAft>
              <a:buAutoNum type="arabicPeriod"/>
            </a:pPr>
            <a:r>
              <a:rPr lang="en-US" noProof="0" dirty="0" smtClean="0"/>
              <a:t>Temperature</a:t>
            </a:r>
          </a:p>
          <a:p>
            <a:pPr marL="342900" indent="-342900" algn="l" defTabSz="228600">
              <a:spcAft>
                <a:spcPts val="1200"/>
              </a:spcAft>
              <a:buAutoNum type="arabicPeriod"/>
            </a:pPr>
            <a:r>
              <a:rPr lang="en-US" dirty="0" smtClean="0"/>
              <a:t>Unemployment</a:t>
            </a:r>
            <a:endParaRPr lang="en-US" noProof="0" dirty="0" smtClean="0"/>
          </a:p>
        </p:txBody>
      </p:sp>
      <p:sp>
        <p:nvSpPr>
          <p:cNvPr id="9" name="AutoShape 2" descr="No description has been provided for this image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18" y="3429000"/>
            <a:ext cx="11563350" cy="282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9542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/>
              <a:t>Features- Impact of Annual Year on Sales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AutoShape 2" descr="No description has been provided for this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2" descr="No description has been provided for this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2" descr="No description has been provided for this image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2" descr="No description has been provided for this image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838" y="2382125"/>
            <a:ext cx="10706866" cy="4080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322244" y="1284899"/>
            <a:ext cx="8525970" cy="457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600" noProof="0" dirty="0" smtClean="0"/>
              <a:t>Sales were found to be high for year 2011.</a:t>
            </a:r>
          </a:p>
          <a:p>
            <a:pPr algn="l" defTabSz="228600">
              <a:spcAft>
                <a:spcPts val="1200"/>
              </a:spcAft>
            </a:pPr>
            <a:r>
              <a:rPr lang="en-US" sz="1600" dirty="0" smtClean="0"/>
              <a:t>This is because the sales data is available fully for 2011. </a:t>
            </a:r>
            <a:endParaRPr lang="en-US" sz="1600" dirty="0"/>
          </a:p>
          <a:p>
            <a:pPr algn="l" defTabSz="228600">
              <a:spcAft>
                <a:spcPts val="1200"/>
              </a:spcAft>
            </a:pPr>
            <a:r>
              <a:rPr lang="en-US" sz="1600" noProof="0" dirty="0" smtClean="0"/>
              <a:t>However sales data is only partially available for 2010 and 2012</a:t>
            </a:r>
          </a:p>
        </p:txBody>
      </p:sp>
    </p:spTree>
    <p:extLst>
      <p:ext uri="{BB962C8B-B14F-4D97-AF65-F5344CB8AC3E}">
        <p14:creationId xmlns:p14="http://schemas.microsoft.com/office/powerpoint/2010/main" val="218119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Features- Impact of </a:t>
            </a:r>
            <a:r>
              <a:rPr lang="en-US" dirty="0" smtClean="0"/>
              <a:t>Unemployment on </a:t>
            </a:r>
            <a:r>
              <a:rPr lang="en-US" dirty="0"/>
              <a:t>Sales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AutoShape 2" descr="No description has been provided for this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2" descr="No description has been provided for this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702566" y="1876079"/>
            <a:ext cx="3168868" cy="406750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11125" indent="-111125" algn="just" defTabSz="2286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500" noProof="0" dirty="0" smtClean="0"/>
              <a:t>Store 40 and 23 area had minimum unemployment</a:t>
            </a:r>
          </a:p>
          <a:p>
            <a:pPr marL="111125" indent="-111125" algn="just" defTabSz="2286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500" dirty="0" smtClean="0"/>
              <a:t>Store 12, 28, 38 area had maximum unemployment</a:t>
            </a:r>
          </a:p>
          <a:p>
            <a:pPr marL="111125" indent="-111125" algn="just" defTabSz="2286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500" dirty="0" smtClean="0"/>
              <a:t>Store 44- had maximum negative correlation with unemployment</a:t>
            </a:r>
          </a:p>
          <a:p>
            <a:pPr marL="568325" lvl="1" indent="-111125" algn="just" defTabSz="2286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500" dirty="0" smtClean="0"/>
              <a:t>So, with </a:t>
            </a:r>
            <a:r>
              <a:rPr lang="en-US" sz="1500" dirty="0"/>
              <a:t>increase in </a:t>
            </a:r>
            <a:r>
              <a:rPr lang="en-US" sz="1500" dirty="0" smtClean="0"/>
              <a:t>unemployment Store </a:t>
            </a:r>
            <a:r>
              <a:rPr lang="en-US" sz="1500" dirty="0"/>
              <a:t>44 had max reduction in </a:t>
            </a:r>
            <a:r>
              <a:rPr lang="en-US" sz="1500" dirty="0" smtClean="0"/>
              <a:t>Sales</a:t>
            </a:r>
          </a:p>
          <a:p>
            <a:pPr marL="111125" indent="-111125" algn="just" defTabSz="2286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500" dirty="0"/>
              <a:t>Stores </a:t>
            </a:r>
            <a:r>
              <a:rPr lang="en-US" sz="1500" dirty="0" smtClean="0"/>
              <a:t>36- </a:t>
            </a:r>
            <a:r>
              <a:rPr lang="en-US" sz="1500" dirty="0"/>
              <a:t>had maximum </a:t>
            </a:r>
            <a:r>
              <a:rPr lang="en-US" sz="1500" dirty="0" smtClean="0"/>
              <a:t>positive correlation </a:t>
            </a:r>
            <a:r>
              <a:rPr lang="en-US" sz="1500" dirty="0"/>
              <a:t>with unemployment </a:t>
            </a:r>
            <a:endParaRPr lang="en-US" sz="1500" dirty="0" smtClean="0"/>
          </a:p>
          <a:p>
            <a:pPr marL="568325" lvl="1" indent="-111125" algn="just" defTabSz="2286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500" dirty="0" smtClean="0"/>
              <a:t>So</a:t>
            </a:r>
            <a:r>
              <a:rPr lang="en-US" sz="1500" dirty="0"/>
              <a:t>, with increase in </a:t>
            </a:r>
            <a:r>
              <a:rPr lang="en-US" sz="1500" dirty="0" smtClean="0"/>
              <a:t>unemployment Store 36 </a:t>
            </a:r>
            <a:r>
              <a:rPr lang="en-US" sz="1500" dirty="0"/>
              <a:t>had max </a:t>
            </a:r>
            <a:r>
              <a:rPr lang="en-US" sz="1500" dirty="0" smtClean="0"/>
              <a:t>increase in Sales</a:t>
            </a:r>
            <a:endParaRPr lang="en-US" sz="1500" dirty="0"/>
          </a:p>
        </p:txBody>
      </p:sp>
      <p:sp>
        <p:nvSpPr>
          <p:cNvPr id="9" name="AutoShape 2" descr="No description has been provided for this image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18427"/>
            <a:ext cx="8560676" cy="4382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3288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Features- Impact of </a:t>
            </a:r>
            <a:r>
              <a:rPr lang="en-US" dirty="0" smtClean="0"/>
              <a:t>CPI on </a:t>
            </a:r>
            <a:r>
              <a:rPr lang="en-US" dirty="0"/>
              <a:t>Sales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AutoShape 2" descr="No description has been provided for this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2" descr="No description has been provided for this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513379" y="1718440"/>
            <a:ext cx="3436883" cy="42473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11125" indent="-111125" algn="just" defTabSz="2286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600" noProof="0" dirty="0" smtClean="0"/>
              <a:t>Store 1,2,3,5,6,8,9,11, 30,31 had max increase in CPI</a:t>
            </a:r>
          </a:p>
          <a:p>
            <a:pPr marL="111125" indent="-111125" algn="just" defTabSz="2286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600" dirty="0"/>
              <a:t>Store 38 had max negative correlation</a:t>
            </a:r>
          </a:p>
          <a:p>
            <a:pPr marL="568325" lvl="1" indent="-111125" algn="just" defTabSz="2286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600" dirty="0" smtClean="0"/>
              <a:t>With </a:t>
            </a:r>
            <a:r>
              <a:rPr lang="en-US" sz="1600" dirty="0"/>
              <a:t>increase in CPI, sales of store 38 reduced </a:t>
            </a:r>
            <a:r>
              <a:rPr lang="en-US" sz="1600" dirty="0" smtClean="0"/>
              <a:t>maximum</a:t>
            </a:r>
          </a:p>
          <a:p>
            <a:pPr marL="111125" indent="-111125" algn="just" defTabSz="2286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600" dirty="0" smtClean="0"/>
              <a:t>Store </a:t>
            </a:r>
            <a:r>
              <a:rPr lang="en-US" sz="1600" dirty="0"/>
              <a:t>44 had max positive correlation</a:t>
            </a:r>
          </a:p>
          <a:p>
            <a:pPr marL="568325" lvl="1" indent="-111125" algn="just" defTabSz="2286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600" dirty="0" smtClean="0"/>
              <a:t>With </a:t>
            </a:r>
            <a:r>
              <a:rPr lang="en-US" sz="1600" dirty="0"/>
              <a:t>increase in CPI, sales of store 44 also increased maximum</a:t>
            </a:r>
            <a:endParaRPr lang="en-US" sz="1600" noProof="0" dirty="0" smtClean="0"/>
          </a:p>
        </p:txBody>
      </p:sp>
      <p:sp>
        <p:nvSpPr>
          <p:cNvPr id="9" name="AutoShape 2" descr="No description has been provided for this image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2" descr="No description has been provided for this image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78" y="1718440"/>
            <a:ext cx="8126577" cy="4232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293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Prediction Models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864975" y="6489700"/>
            <a:ext cx="327025" cy="201613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594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/>
              <a:t>Predictive Models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0"/>
          </p:nvPr>
        </p:nvSpPr>
        <p:spPr>
          <a:xfrm>
            <a:off x="381001" y="1119351"/>
            <a:ext cx="11430000" cy="5454869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smtClean="0"/>
              <a:t>Choosing the right model</a:t>
            </a:r>
          </a:p>
          <a:p>
            <a:r>
              <a:rPr lang="en-US" sz="1800" dirty="0" smtClean="0"/>
              <a:t>Data set has columns like CPI, unemployment, temperature, holiday and fuel price.</a:t>
            </a:r>
          </a:p>
          <a:p>
            <a:r>
              <a:rPr lang="en-US" sz="1800" dirty="0" smtClean="0"/>
              <a:t>We do not have future trend of </a:t>
            </a:r>
            <a:r>
              <a:rPr lang="en-US" sz="1800" dirty="0"/>
              <a:t>CPI, unemployment, temp, holiday and fuel </a:t>
            </a:r>
            <a:r>
              <a:rPr lang="en-US" sz="1800" dirty="0" smtClean="0"/>
              <a:t>price columns for 12 to 16 weeks.</a:t>
            </a:r>
          </a:p>
          <a:p>
            <a:r>
              <a:rPr lang="en-US" sz="1800" dirty="0" smtClean="0"/>
              <a:t>Prediction of Weekly Sales can not be done using traditional ML Algorithms such as Linear Regression, Decision Tree, Random Forest since they will need these column details completely.</a:t>
            </a:r>
          </a:p>
          <a:p>
            <a:r>
              <a:rPr lang="en-US" sz="1800" dirty="0" smtClean="0"/>
              <a:t>Future prediction needs to be done only basis time- hence this becomes a Time Series ML </a:t>
            </a:r>
            <a:r>
              <a:rPr lang="en-US" sz="1800" dirty="0" err="1" smtClean="0"/>
              <a:t>Algo</a:t>
            </a:r>
            <a:endParaRPr lang="en-US" sz="1800" dirty="0" smtClean="0"/>
          </a:p>
          <a:p>
            <a:r>
              <a:rPr lang="en-US" sz="1800" dirty="0" smtClean="0"/>
              <a:t>We tested ARIMA and SARIMAX, however SARIMAX gives a better representation due to seasonality of the data.</a:t>
            </a:r>
          </a:p>
          <a:p>
            <a:r>
              <a:rPr lang="en-US" sz="1800" dirty="0" smtClean="0"/>
              <a:t>Following assumptions &amp; tests were done on the data:</a:t>
            </a:r>
          </a:p>
          <a:p>
            <a:pPr lvl="2"/>
            <a:r>
              <a:rPr lang="en-US" sz="1800" dirty="0" smtClean="0"/>
              <a:t>Assumed seasonality window = 52 weeks</a:t>
            </a:r>
          </a:p>
          <a:p>
            <a:pPr lvl="3"/>
            <a:r>
              <a:rPr lang="en-US" sz="1600" dirty="0" smtClean="0"/>
              <a:t>since the plot of mean data gives a straight line with window =52</a:t>
            </a:r>
          </a:p>
          <a:p>
            <a:pPr lvl="2"/>
            <a:r>
              <a:rPr lang="en-US" sz="1800" dirty="0"/>
              <a:t>Conducted </a:t>
            </a:r>
            <a:r>
              <a:rPr lang="en-US" sz="1800" dirty="0" err="1"/>
              <a:t>stationarity</a:t>
            </a:r>
            <a:r>
              <a:rPr lang="en-US" sz="1800" dirty="0"/>
              <a:t> test of </a:t>
            </a:r>
            <a:r>
              <a:rPr lang="en-US" sz="1800" dirty="0" err="1" smtClean="0"/>
              <a:t>Weekly_Sales</a:t>
            </a:r>
            <a:endParaRPr lang="en-US" sz="1800" dirty="0" smtClean="0"/>
          </a:p>
          <a:p>
            <a:pPr lvl="3"/>
            <a:r>
              <a:rPr lang="en-US" sz="1600" dirty="0" smtClean="0"/>
              <a:t>It was found stationary</a:t>
            </a:r>
          </a:p>
          <a:p>
            <a:pPr lvl="2"/>
            <a:r>
              <a:rPr lang="en-US" sz="1800" dirty="0"/>
              <a:t>Conducted ACF &amp; PACF Tests : found q value = 2, p value= 2, d value = </a:t>
            </a:r>
            <a:r>
              <a:rPr lang="en-US" sz="1800" dirty="0" smtClean="0"/>
              <a:t>0</a:t>
            </a:r>
          </a:p>
          <a:p>
            <a:pPr lvl="2"/>
            <a:r>
              <a:rPr lang="en-US" sz="1800" dirty="0" smtClean="0"/>
              <a:t>ARIMA was not accurate</a:t>
            </a:r>
          </a:p>
          <a:p>
            <a:pPr lvl="2"/>
            <a:r>
              <a:rPr lang="en-US" sz="1800" dirty="0" smtClean="0"/>
              <a:t>SARIMAX gave a strong representation of the data</a:t>
            </a:r>
            <a:endParaRPr lang="en-US" sz="1800" dirty="0"/>
          </a:p>
          <a:p>
            <a:pPr lvl="2"/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665425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Looking at trend, seasonality and residue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940" y="936734"/>
            <a:ext cx="8744004" cy="5641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4022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Assumed seasonality window = 52 weeks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36331" y="1055565"/>
            <a:ext cx="75306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3"/>
            <a:r>
              <a:rPr lang="en-US" sz="1600" dirty="0" smtClean="0"/>
              <a:t>Since plot </a:t>
            </a:r>
            <a:r>
              <a:rPr lang="en-US" sz="1600" dirty="0"/>
              <a:t>of mean data gives a straight line with window =</a:t>
            </a:r>
            <a:r>
              <a:rPr lang="en-US" sz="1600" dirty="0" smtClean="0"/>
              <a:t>52 weeks</a:t>
            </a:r>
            <a:endParaRPr lang="en-US" sz="1600" dirty="0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31" y="1860550"/>
            <a:ext cx="11503572" cy="445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036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Conducted ACF &amp; PACF Tests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AutoShape 2" descr="No description has been provided for this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315" name="Picture 3"/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470517"/>
            <a:ext cx="5410200" cy="414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AutoShape 5" descr="No description has been provided for this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6235" y="1396727"/>
            <a:ext cx="5410200" cy="414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Oval 6"/>
          <p:cNvSpPr/>
          <p:nvPr/>
        </p:nvSpPr>
        <p:spPr>
          <a:xfrm rot="20795462">
            <a:off x="637362" y="1548848"/>
            <a:ext cx="928053" cy="1659621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 smtClean="0"/>
          </a:p>
        </p:txBody>
      </p:sp>
      <p:sp>
        <p:nvSpPr>
          <p:cNvPr id="10" name="Oval 9"/>
          <p:cNvSpPr/>
          <p:nvPr/>
        </p:nvSpPr>
        <p:spPr>
          <a:xfrm rot="20795462">
            <a:off x="6812188" y="1548848"/>
            <a:ext cx="928053" cy="1659621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 smtClean="0"/>
          </a:p>
        </p:txBody>
      </p:sp>
      <p:sp>
        <p:nvSpPr>
          <p:cNvPr id="8" name="TextBox 7"/>
          <p:cNvSpPr txBox="1"/>
          <p:nvPr/>
        </p:nvSpPr>
        <p:spPr>
          <a:xfrm>
            <a:off x="806051" y="5665076"/>
            <a:ext cx="1878295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noProof="0" dirty="0" smtClean="0"/>
              <a:t>Q value =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0877" y="5638800"/>
            <a:ext cx="1878295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dirty="0"/>
              <a:t>P</a:t>
            </a:r>
            <a:r>
              <a:rPr lang="en-US" noProof="0" dirty="0" smtClean="0"/>
              <a:t> value = 2</a:t>
            </a:r>
          </a:p>
        </p:txBody>
      </p:sp>
    </p:spTree>
    <p:extLst>
      <p:ext uri="{BB962C8B-B14F-4D97-AF65-F5344CB8AC3E}">
        <p14:creationId xmlns:p14="http://schemas.microsoft.com/office/powerpoint/2010/main" val="3448364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ARIMA Output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55379"/>
            <a:ext cx="11430000" cy="4918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60791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SARIMAX Output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34" y="1119352"/>
            <a:ext cx="11461532" cy="5628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6832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SARIMAX Predictions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52" y="1261241"/>
            <a:ext cx="11556124" cy="5344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08667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706821"/>
          </a:xfrm>
        </p:spPr>
        <p:txBody>
          <a:bodyPr/>
          <a:lstStyle/>
          <a:p>
            <a:r>
              <a:rPr lang="en-US" dirty="0" smtClean="0"/>
              <a:t>Model 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81001" y="1371600"/>
            <a:ext cx="11430000" cy="769883"/>
          </a:xfrm>
        </p:spPr>
        <p:txBody>
          <a:bodyPr/>
          <a:lstStyle/>
          <a:p>
            <a:r>
              <a:rPr lang="en-US" dirty="0"/>
              <a:t>For model evaluation technique used was finding RMSE values of both the model and whose RMSE value was less is considered the best model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44214" y="2494893"/>
            <a:ext cx="11430000" cy="70682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Inferences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44214" y="3203028"/>
            <a:ext cx="11430000" cy="333966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Seasonality- </a:t>
            </a:r>
          </a:p>
          <a:p>
            <a:pPr lvl="1"/>
            <a:r>
              <a:rPr lang="en-US" dirty="0" smtClean="0"/>
              <a:t>Model has detected and removed seasonality using </a:t>
            </a:r>
            <a:r>
              <a:rPr lang="en-US" dirty="0" err="1" smtClean="0"/>
              <a:t>Dicky</a:t>
            </a:r>
            <a:r>
              <a:rPr lang="en-US" dirty="0" smtClean="0"/>
              <a:t> Fuller test.</a:t>
            </a:r>
          </a:p>
          <a:p>
            <a:r>
              <a:rPr lang="en-US" dirty="0"/>
              <a:t>Discrepancies</a:t>
            </a:r>
          </a:p>
          <a:p>
            <a:pPr lvl="1"/>
            <a:r>
              <a:rPr lang="en-US" dirty="0" smtClean="0"/>
              <a:t>Certain small discrepancies may happen because</a:t>
            </a:r>
          </a:p>
          <a:p>
            <a:pPr lvl="2"/>
            <a:r>
              <a:rPr lang="en-US" dirty="0" smtClean="0"/>
              <a:t>Certain months have 5 weeks whereas most months have 4 weeks in the dataset.</a:t>
            </a:r>
          </a:p>
          <a:p>
            <a:pPr lvl="2"/>
            <a:r>
              <a:rPr lang="en-US" dirty="0" smtClean="0"/>
              <a:t>Although outliers were removed- but it may still impact data prediction.</a:t>
            </a:r>
            <a:endParaRPr lang="en-US" dirty="0"/>
          </a:p>
          <a:p>
            <a:r>
              <a:rPr lang="en-US" dirty="0" smtClean="0"/>
              <a:t>Overall</a:t>
            </a:r>
          </a:p>
          <a:p>
            <a:pPr lvl="1"/>
            <a:r>
              <a:rPr lang="en-US" dirty="0" smtClean="0"/>
              <a:t>SARIMAX seems a good choice for time series prediction.</a:t>
            </a:r>
          </a:p>
        </p:txBody>
      </p:sp>
    </p:spTree>
    <p:extLst>
      <p:ext uri="{BB962C8B-B14F-4D97-AF65-F5344CB8AC3E}">
        <p14:creationId xmlns:p14="http://schemas.microsoft.com/office/powerpoint/2010/main" val="3373971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Potential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81001" y="1371600"/>
            <a:ext cx="11430000" cy="851338"/>
          </a:xfrm>
        </p:spPr>
        <p:txBody>
          <a:bodyPr/>
          <a:lstStyle/>
          <a:p>
            <a:r>
              <a:rPr lang="en-US" dirty="0" smtClean="0"/>
              <a:t>The model and its techniques can be extrapolated for other situations, industries, clients, problems for predicting time based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28449" y="2236075"/>
            <a:ext cx="11430000" cy="9906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23042" y="2958662"/>
            <a:ext cx="11430000" cy="8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SARIMAX is a powerful tool/ ML algorithm to use for predictions</a:t>
            </a:r>
          </a:p>
          <a:p>
            <a:r>
              <a:rPr lang="en-US" dirty="0" smtClean="0"/>
              <a:t>Data Cleaning is extremely important</a:t>
            </a:r>
          </a:p>
          <a:p>
            <a:r>
              <a:rPr lang="en-US" dirty="0" smtClean="0"/>
              <a:t>Making the data stationary is very important</a:t>
            </a:r>
          </a:p>
          <a:p>
            <a:r>
              <a:rPr lang="en-US" dirty="0" smtClean="0"/>
              <a:t>Great insights were drawn from the dataset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3071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864975" y="6489700"/>
            <a:ext cx="327025" cy="201613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1509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bM7RhL_RPetXm71VAkRV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GxuwlO4B8.swKwrPgSEpA"/>
</p:tagLst>
</file>

<file path=ppt/theme/theme1.xml><?xml version="1.0" encoding="utf-8"?>
<a:theme xmlns:a="http://schemas.openxmlformats.org/drawingml/2006/main" name="Accenture 2020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xmlns="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3_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xmlns="" name="Presentation10" id="{C00EB2C1-B526-F548-AF64-FD10065D7E5F}" vid="{C7D4C087-F6B1-4649-903F-3FEF709D25B8}"/>
    </a:ext>
  </a:extLst>
</a:theme>
</file>

<file path=ppt/theme/theme3.xml><?xml version="1.0" encoding="utf-8"?>
<a:theme xmlns:a="http://schemas.openxmlformats.org/drawingml/2006/main" name="2_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xmlns="" name="Presentation10" id="{C00EB2C1-B526-F548-AF64-FD10065D7E5F}" vid="{C7D4C087-F6B1-4649-903F-3FEF709D25B8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89A360C3CFD74E9485A4374D05E72B" ma:contentTypeVersion="10" ma:contentTypeDescription="Create a new document." ma:contentTypeScope="" ma:versionID="e8929ccd4393c6c073421b8ed856b52d">
  <xsd:schema xmlns:xsd="http://www.w3.org/2001/XMLSchema" xmlns:xs="http://www.w3.org/2001/XMLSchema" xmlns:p="http://schemas.microsoft.com/office/2006/metadata/properties" xmlns:ns2="0c623a79-94f1-4f1e-9e9d-7eb9386bd0c8" xmlns:ns3="75bb5737-7430-468f-8580-fed5a8e85c62" targetNamespace="http://schemas.microsoft.com/office/2006/metadata/properties" ma:root="true" ma:fieldsID="03885c0d8e07bbad7e161f369bd4ae92" ns2:_="" ns3:_="">
    <xsd:import namespace="0c623a79-94f1-4f1e-9e9d-7eb9386bd0c8"/>
    <xsd:import namespace="75bb5737-7430-468f-8580-fed5a8e85c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623a79-94f1-4f1e-9e9d-7eb9386bd0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bb5737-7430-468f-8580-fed5a8e85c6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C5CAE4C-2028-4B62-A024-4311EB58E2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623a79-94f1-4f1e-9e9d-7eb9386bd0c8"/>
    <ds:schemaRef ds:uri="75bb5737-7430-468f-8580-fed5a8e85c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408AA25-C2F4-49C4-9351-6E2F8E05DA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C4DDDA-6932-4ABB-BCE4-2608B5708895}">
  <ds:schemaRefs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  <ds:schemaRef ds:uri="75bb5737-7430-468f-8580-fed5a8e85c62"/>
    <ds:schemaRef ds:uri="http://schemas.microsoft.com/office/2006/metadata/properties"/>
    <ds:schemaRef ds:uri="0c623a79-94f1-4f1e-9e9d-7eb9386bd0c8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2452</TotalTime>
  <Words>1160</Words>
  <Application>Microsoft Office PowerPoint</Application>
  <PresentationFormat>Custom</PresentationFormat>
  <Paragraphs>208</Paragraphs>
  <Slides>27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Accenture 2020</vt:lpstr>
      <vt:lpstr>3_Titles</vt:lpstr>
      <vt:lpstr>2_Titles</vt:lpstr>
      <vt:lpstr>think-cell Slide</vt:lpstr>
      <vt:lpstr>Capstone Project  Walmart Weekly Sales</vt:lpstr>
      <vt:lpstr>Contents</vt:lpstr>
      <vt:lpstr>The Problem Statement</vt:lpstr>
      <vt:lpstr>Project Objective</vt:lpstr>
      <vt:lpstr>PowerPoint Presentation</vt:lpstr>
      <vt:lpstr>Pre- processing </vt:lpstr>
      <vt:lpstr>Pre- processing </vt:lpstr>
      <vt:lpstr>PowerPoint Presentation</vt:lpstr>
      <vt:lpstr>Insights</vt:lpstr>
      <vt:lpstr>Insights- Sales by Store Number</vt:lpstr>
      <vt:lpstr>PowerPoint Presentation</vt:lpstr>
      <vt:lpstr>Features- Heat Map</vt:lpstr>
      <vt:lpstr>Features- Outliers</vt:lpstr>
      <vt:lpstr>Features- Impact of Annual Year on Sales</vt:lpstr>
      <vt:lpstr>Features- Impact of Unemployment on Sales</vt:lpstr>
      <vt:lpstr>Features- Impact of CPI on Sales</vt:lpstr>
      <vt:lpstr>PowerPoint Presentation</vt:lpstr>
      <vt:lpstr>Predictive Models</vt:lpstr>
      <vt:lpstr>Looking at trend, seasonality and residue</vt:lpstr>
      <vt:lpstr>Assumed seasonality window = 52 weeks</vt:lpstr>
      <vt:lpstr>Conducted ACF &amp; PACF Tests</vt:lpstr>
      <vt:lpstr>ARIMA Output</vt:lpstr>
      <vt:lpstr>SARIMAX Output</vt:lpstr>
      <vt:lpstr>SARIMAX Predictions</vt:lpstr>
      <vt:lpstr>Model Evaluation</vt:lpstr>
      <vt:lpstr>Future Potential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Sedgwick_HGS – Rehire   People Transition Proposition</dc:title>
  <dc:creator>John Charles, Anto Pio</dc:creator>
  <cp:lastModifiedBy>Sourav</cp:lastModifiedBy>
  <cp:revision>126</cp:revision>
  <dcterms:created xsi:type="dcterms:W3CDTF">2021-09-22T10:46:32Z</dcterms:created>
  <dcterms:modified xsi:type="dcterms:W3CDTF">2024-10-22T15:32:43Z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0x010100CA89A360C3CFD74E9485A4374D05E72B</vt:lpwstr>
  </property>
</Properties>
</file>